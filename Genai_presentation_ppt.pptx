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DM Sans" pitchFamily="2" charset="0"/>
      <p:regular r:id="rId9"/>
    </p:embeddedFont>
    <p:embeddedFont>
      <p:font typeface="DM Sans Bold" pitchFamily="2" charset="0"/>
      <p:regular r:id="rId10"/>
    </p:embeddedFont>
    <p:embeddedFont>
      <p:font typeface="Georgia Pro Light" panose="02040302050405020303" pitchFamily="18" charset="0"/>
      <p:regular r:id="rId11"/>
      <p:italic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5" d="100"/>
          <a:sy n="75" d="100"/>
        </p:scale>
        <p:origin x="43" y="-1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font" Target="fonts/font4.fntdata"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3.fntdata"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font" Target="fonts/font2.fntdata" /><Relationship Id="rId4" Type="http://schemas.openxmlformats.org/officeDocument/2006/relationships/slide" Target="slides/slide3.xml" /><Relationship Id="rId9" Type="http://schemas.openxmlformats.org/officeDocument/2006/relationships/font" Target="fonts/font1.fntdata"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Layout" Target="../slideLayouts/slideLayout7.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grpSp>
        <p:nvGrpSpPr>
          <p:cNvPr id="2" name="Group 2"/>
          <p:cNvGrpSpPr/>
          <p:nvPr/>
        </p:nvGrpSpPr>
        <p:grpSpPr>
          <a:xfrm>
            <a:off x="10744200" y="666750"/>
            <a:ext cx="6877050" cy="585104"/>
            <a:chOff x="0" y="0"/>
            <a:chExt cx="9169400" cy="780138"/>
          </a:xfrm>
        </p:grpSpPr>
        <p:sp>
          <p:nvSpPr>
            <p:cNvPr id="3" name="Freeform 3"/>
            <p:cNvSpPr/>
            <p:nvPr/>
          </p:nvSpPr>
          <p:spPr>
            <a:xfrm rot="-5400000" flipH="1">
              <a:off x="36553" y="74861"/>
              <a:ext cx="555143" cy="628248"/>
            </a:xfrm>
            <a:custGeom>
              <a:avLst/>
              <a:gdLst/>
              <a:ahLst/>
              <a:cxnLst/>
              <a:rect l="l" t="t" r="r" b="b"/>
              <a:pathLst>
                <a:path w="555143" h="628248">
                  <a:moveTo>
                    <a:pt x="555143" y="0"/>
                  </a:moveTo>
                  <a:lnTo>
                    <a:pt x="0" y="0"/>
                  </a:lnTo>
                  <a:lnTo>
                    <a:pt x="0" y="628248"/>
                  </a:lnTo>
                  <a:lnTo>
                    <a:pt x="555143" y="628248"/>
                  </a:lnTo>
                  <a:lnTo>
                    <a:pt x="55514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795304" y="95250"/>
              <a:ext cx="8374096" cy="684888"/>
            </a:xfrm>
            <a:prstGeom prst="rect">
              <a:avLst/>
            </a:prstGeom>
          </p:spPr>
          <p:txBody>
            <a:bodyPr lIns="0" tIns="0" rIns="0" bIns="0" rtlCol="0" anchor="t">
              <a:spAutoFit/>
            </a:bodyPr>
            <a:lstStyle/>
            <a:p>
              <a:pPr marL="0" lvl="0" indent="0" algn="l">
                <a:lnSpc>
                  <a:spcPts val="3555"/>
                </a:lnSpc>
              </a:pPr>
              <a:r>
                <a:rPr lang="en-US" sz="3864" spc="-77">
                  <a:solidFill>
                    <a:srgbClr val="6E91C4"/>
                  </a:solidFill>
                  <a:latin typeface="Georgia Pro Light"/>
                  <a:ea typeface="Georgia Pro Light"/>
                  <a:cs typeface="Georgia Pro Light"/>
                  <a:sym typeface="Georgia Pro Light"/>
                </a:rPr>
                <a:t>Keyword Extraction</a:t>
              </a:r>
            </a:p>
          </p:txBody>
        </p:sp>
      </p:grpSp>
      <p:sp>
        <p:nvSpPr>
          <p:cNvPr id="5" name="Freeform 5"/>
          <p:cNvSpPr/>
          <p:nvPr/>
        </p:nvSpPr>
        <p:spPr>
          <a:xfrm>
            <a:off x="0" y="1562100"/>
            <a:ext cx="10075289" cy="6716860"/>
          </a:xfrm>
          <a:custGeom>
            <a:avLst/>
            <a:gdLst/>
            <a:ahLst/>
            <a:cxnLst/>
            <a:rect l="l" t="t" r="r" b="b"/>
            <a:pathLst>
              <a:path w="10075289" h="6716860">
                <a:moveTo>
                  <a:pt x="0" y="0"/>
                </a:moveTo>
                <a:lnTo>
                  <a:pt x="10075289" y="0"/>
                </a:lnTo>
                <a:lnTo>
                  <a:pt x="10075289" y="6716860"/>
                </a:lnTo>
                <a:lnTo>
                  <a:pt x="0" y="6716860"/>
                </a:lnTo>
                <a:lnTo>
                  <a:pt x="0" y="0"/>
                </a:lnTo>
                <a:close/>
              </a:path>
            </a:pathLst>
          </a:custGeom>
          <a:blipFill>
            <a:blip r:embed="rId4"/>
            <a:stretch>
              <a:fillRect/>
            </a:stretch>
          </a:blipFill>
        </p:spPr>
        <p:txBody>
          <a:bodyPr/>
          <a:lstStyle/>
          <a:p>
            <a:endParaRPr lang="en-IN"/>
          </a:p>
        </p:txBody>
      </p:sp>
      <p:sp>
        <p:nvSpPr>
          <p:cNvPr id="6" name="TextBox 6"/>
          <p:cNvSpPr txBox="1"/>
          <p:nvPr/>
        </p:nvSpPr>
        <p:spPr>
          <a:xfrm>
            <a:off x="10734675" y="1743075"/>
            <a:ext cx="6886575" cy="3873439"/>
          </a:xfrm>
          <a:prstGeom prst="rect">
            <a:avLst/>
          </a:prstGeom>
        </p:spPr>
        <p:txBody>
          <a:bodyPr lIns="0" tIns="0" rIns="0" bIns="0" rtlCol="0" anchor="t">
            <a:spAutoFit/>
          </a:bodyPr>
          <a:lstStyle/>
          <a:p>
            <a:pPr marL="0" lvl="0" indent="0" algn="l">
              <a:lnSpc>
                <a:spcPts val="9999"/>
              </a:lnSpc>
            </a:pPr>
            <a:r>
              <a:rPr lang="en-US" sz="9999" dirty="0">
                <a:solidFill>
                  <a:srgbClr val="3B4D6B"/>
                </a:solidFill>
                <a:latin typeface="Georgia Pro Light"/>
                <a:ea typeface="Georgia Pro Light"/>
                <a:cs typeface="Georgia Pro Light"/>
                <a:sym typeface="Georgia Pro Light"/>
              </a:rPr>
              <a:t>Navigating the Data Labyrinth</a:t>
            </a:r>
          </a:p>
        </p:txBody>
      </p:sp>
      <p:grpSp>
        <p:nvGrpSpPr>
          <p:cNvPr id="7" name="Group 7"/>
          <p:cNvGrpSpPr/>
          <p:nvPr/>
        </p:nvGrpSpPr>
        <p:grpSpPr>
          <a:xfrm>
            <a:off x="10744200" y="6235984"/>
            <a:ext cx="6370203" cy="2450770"/>
            <a:chOff x="0" y="0"/>
            <a:chExt cx="8493604" cy="3267693"/>
          </a:xfrm>
        </p:grpSpPr>
        <p:sp>
          <p:nvSpPr>
            <p:cNvPr id="8" name="TextBox 8"/>
            <p:cNvSpPr txBox="1"/>
            <p:nvPr/>
          </p:nvSpPr>
          <p:spPr>
            <a:xfrm>
              <a:off x="0" y="691344"/>
              <a:ext cx="8493604" cy="2576349"/>
            </a:xfrm>
            <a:prstGeom prst="rect">
              <a:avLst/>
            </a:prstGeom>
          </p:spPr>
          <p:txBody>
            <a:bodyPr lIns="0" tIns="0" rIns="0" bIns="0" rtlCol="0" anchor="t">
              <a:spAutoFit/>
            </a:bodyPr>
            <a:lstStyle/>
            <a:p>
              <a:pPr algn="l">
                <a:lnSpc>
                  <a:spcPts val="3080"/>
                </a:lnSpc>
              </a:pPr>
              <a:r>
                <a:rPr lang="en-US" sz="2200">
                  <a:solidFill>
                    <a:srgbClr val="3B4D6B"/>
                  </a:solidFill>
                  <a:latin typeface="DM Sans"/>
                  <a:ea typeface="DM Sans"/>
                  <a:cs typeface="DM Sans"/>
                  <a:sym typeface="DM Sans"/>
                </a:rPr>
                <a:t>Meet Jaiswal - AP23110010913 </a:t>
              </a:r>
            </a:p>
            <a:p>
              <a:pPr algn="l">
                <a:lnSpc>
                  <a:spcPts val="3080"/>
                </a:lnSpc>
              </a:pPr>
              <a:r>
                <a:rPr lang="en-US" sz="2200">
                  <a:solidFill>
                    <a:srgbClr val="3B4D6B"/>
                  </a:solidFill>
                  <a:latin typeface="DM Sans"/>
                  <a:ea typeface="DM Sans"/>
                  <a:cs typeface="DM Sans"/>
                  <a:sym typeface="DM Sans"/>
                </a:rPr>
                <a:t>Yasodhar Gubba - AP23110010512 </a:t>
              </a:r>
            </a:p>
            <a:p>
              <a:pPr algn="l">
                <a:lnSpc>
                  <a:spcPts val="3080"/>
                </a:lnSpc>
              </a:pPr>
              <a:r>
                <a:rPr lang="en-US" sz="2200">
                  <a:solidFill>
                    <a:srgbClr val="3B4D6B"/>
                  </a:solidFill>
                  <a:latin typeface="DM Sans"/>
                  <a:ea typeface="DM Sans"/>
                  <a:cs typeface="DM Sans"/>
                  <a:sym typeface="DM Sans"/>
                </a:rPr>
                <a:t>Naveed Ahammed - AP23110010269</a:t>
              </a:r>
            </a:p>
            <a:p>
              <a:pPr algn="l">
                <a:lnSpc>
                  <a:spcPts val="3080"/>
                </a:lnSpc>
              </a:pPr>
              <a:r>
                <a:rPr lang="en-US" sz="2200">
                  <a:solidFill>
                    <a:srgbClr val="3B4D6B"/>
                  </a:solidFill>
                  <a:latin typeface="DM Sans"/>
                  <a:ea typeface="DM Sans"/>
                  <a:cs typeface="DM Sans"/>
                  <a:sym typeface="DM Sans"/>
                </a:rPr>
                <a:t>Jaqueen Agneshia Christy - AP23110011238</a:t>
              </a:r>
            </a:p>
            <a:p>
              <a:pPr marL="0" lvl="0" indent="0" algn="l">
                <a:lnSpc>
                  <a:spcPts val="3080"/>
                </a:lnSpc>
                <a:spcBef>
                  <a:spcPct val="0"/>
                </a:spcBef>
              </a:pPr>
              <a:r>
                <a:rPr lang="en-US" sz="2200">
                  <a:solidFill>
                    <a:srgbClr val="3B4D6B"/>
                  </a:solidFill>
                  <a:latin typeface="DM Sans"/>
                  <a:ea typeface="DM Sans"/>
                  <a:cs typeface="DM Sans"/>
                  <a:sym typeface="DM Sans"/>
                </a:rPr>
                <a:t>Christina Evangelin - AP23110011273 </a:t>
              </a:r>
            </a:p>
          </p:txBody>
        </p:sp>
        <p:sp>
          <p:nvSpPr>
            <p:cNvPr id="9" name="TextBox 9"/>
            <p:cNvSpPr txBox="1"/>
            <p:nvPr/>
          </p:nvSpPr>
          <p:spPr>
            <a:xfrm>
              <a:off x="0" y="-47625"/>
              <a:ext cx="7658100" cy="569172"/>
            </a:xfrm>
            <a:prstGeom prst="rect">
              <a:avLst/>
            </a:prstGeom>
          </p:spPr>
          <p:txBody>
            <a:bodyPr lIns="0" tIns="0" rIns="0" bIns="0" rtlCol="0" anchor="t">
              <a:spAutoFit/>
            </a:bodyPr>
            <a:lstStyle/>
            <a:p>
              <a:pPr marL="0" lvl="0" indent="0" algn="l">
                <a:lnSpc>
                  <a:spcPts val="3640"/>
                </a:lnSpc>
                <a:spcBef>
                  <a:spcPct val="0"/>
                </a:spcBef>
              </a:pPr>
              <a:r>
                <a:rPr lang="en-US" sz="2600" b="1">
                  <a:solidFill>
                    <a:srgbClr val="6E91C4"/>
                  </a:solidFill>
                  <a:latin typeface="DM Sans Bold"/>
                  <a:ea typeface="DM Sans Bold"/>
                  <a:cs typeface="DM Sans Bold"/>
                  <a:sym typeface="DM Sans Bold"/>
                </a:rPr>
                <a:t>PRESENTED BY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15821025"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3B4D6B"/>
                </a:solidFill>
                <a:latin typeface="Georgia Pro Light"/>
                <a:ea typeface="Georgia Pro Light"/>
                <a:cs typeface="Georgia Pro Light"/>
                <a:sym typeface="Georgia Pro Light"/>
              </a:rPr>
              <a:t>Problem and Objective Overview</a:t>
            </a:r>
          </a:p>
        </p:txBody>
      </p:sp>
      <p:grpSp>
        <p:nvGrpSpPr>
          <p:cNvPr id="3" name="Group 3"/>
          <p:cNvGrpSpPr/>
          <p:nvPr/>
        </p:nvGrpSpPr>
        <p:grpSpPr>
          <a:xfrm>
            <a:off x="666750" y="3686583"/>
            <a:ext cx="7509042" cy="3509381"/>
            <a:chOff x="0" y="0"/>
            <a:chExt cx="10012056" cy="4679175"/>
          </a:xfrm>
        </p:grpSpPr>
        <p:sp>
          <p:nvSpPr>
            <p:cNvPr id="4" name="TextBox 4"/>
            <p:cNvSpPr txBox="1"/>
            <p:nvPr/>
          </p:nvSpPr>
          <p:spPr>
            <a:xfrm>
              <a:off x="0" y="739839"/>
              <a:ext cx="10012056" cy="3939336"/>
            </a:xfrm>
            <a:prstGeom prst="rect">
              <a:avLst/>
            </a:prstGeom>
          </p:spPr>
          <p:txBody>
            <a:bodyPr lIns="0" tIns="0" rIns="0" bIns="0" rtlCol="0" anchor="t">
              <a:spAutoFit/>
            </a:bodyPr>
            <a:lstStyle/>
            <a:p>
              <a:pPr marL="0" lvl="0" indent="0" algn="l">
                <a:lnSpc>
                  <a:spcPts val="2940"/>
                </a:lnSpc>
              </a:pPr>
              <a:r>
                <a:rPr lang="en-US" sz="2100" dirty="0">
                  <a:solidFill>
                    <a:srgbClr val="3B4D6B"/>
                  </a:solidFill>
                  <a:latin typeface="DM Sans"/>
                  <a:ea typeface="DM Sans"/>
                  <a:cs typeface="DM Sans"/>
                  <a:sym typeface="DM Sans"/>
                </a:rPr>
                <a:t>Many documents contain essential ideas that are difficult to notice because they are surrounded by large volumes of text. Manually reading and skimming through articles, research papers, and reports is time-consuming and often leads to missing important points. With the rapid growth of digital content, there is a strong need for a faster way to understand the main topics without going through every line in detail.</a:t>
              </a:r>
            </a:p>
          </p:txBody>
        </p:sp>
        <p:sp>
          <p:nvSpPr>
            <p:cNvPr id="5" name="TextBox 5"/>
            <p:cNvSpPr txBox="1"/>
            <p:nvPr/>
          </p:nvSpPr>
          <p:spPr>
            <a:xfrm>
              <a:off x="0" y="-47625"/>
              <a:ext cx="10012056" cy="569145"/>
            </a:xfrm>
            <a:prstGeom prst="rect">
              <a:avLst/>
            </a:prstGeom>
          </p:spPr>
          <p:txBody>
            <a:bodyPr lIns="0" tIns="0" rIns="0" bIns="0" rtlCol="0" anchor="t">
              <a:spAutoFit/>
            </a:bodyPr>
            <a:lstStyle/>
            <a:p>
              <a:pPr marL="0" lvl="0" indent="0" algn="l">
                <a:lnSpc>
                  <a:spcPts val="3640"/>
                </a:lnSpc>
              </a:pPr>
              <a:r>
                <a:rPr lang="en-US" sz="2600" b="1">
                  <a:solidFill>
                    <a:srgbClr val="6E91C4"/>
                  </a:solidFill>
                  <a:latin typeface="DM Sans Bold"/>
                  <a:ea typeface="DM Sans Bold"/>
                  <a:cs typeface="DM Sans Bold"/>
                  <a:sym typeface="DM Sans Bold"/>
                </a:rPr>
                <a:t>PROBLEM</a:t>
              </a:r>
            </a:p>
          </p:txBody>
        </p:sp>
      </p:grpSp>
      <p:grpSp>
        <p:nvGrpSpPr>
          <p:cNvPr id="6" name="Group 6"/>
          <p:cNvGrpSpPr/>
          <p:nvPr/>
        </p:nvGrpSpPr>
        <p:grpSpPr>
          <a:xfrm>
            <a:off x="9296400" y="3686583"/>
            <a:ext cx="7453762" cy="3876305"/>
            <a:chOff x="0" y="0"/>
            <a:chExt cx="9938349" cy="5168407"/>
          </a:xfrm>
        </p:grpSpPr>
        <p:sp>
          <p:nvSpPr>
            <p:cNvPr id="7" name="TextBox 7"/>
            <p:cNvSpPr txBox="1"/>
            <p:nvPr/>
          </p:nvSpPr>
          <p:spPr>
            <a:xfrm>
              <a:off x="0" y="733717"/>
              <a:ext cx="9938349" cy="4434689"/>
            </a:xfrm>
            <a:prstGeom prst="rect">
              <a:avLst/>
            </a:prstGeom>
          </p:spPr>
          <p:txBody>
            <a:bodyPr lIns="0" tIns="0" rIns="0" bIns="0" rtlCol="0" anchor="t">
              <a:spAutoFit/>
            </a:bodyPr>
            <a:lstStyle/>
            <a:p>
              <a:pPr marL="0" lvl="0" indent="0" algn="l">
                <a:lnSpc>
                  <a:spcPts val="2940"/>
                </a:lnSpc>
              </a:pPr>
              <a:r>
                <a:rPr lang="en-US" sz="2100" dirty="0">
                  <a:solidFill>
                    <a:srgbClr val="3B4D6B"/>
                  </a:solidFill>
                  <a:latin typeface="DM Sans"/>
                  <a:ea typeface="DM Sans"/>
                  <a:cs typeface="DM Sans"/>
                  <a:sym typeface="DM Sans"/>
                </a:rPr>
                <a:t>The objective of this project is to automatically extract the most relevant keywords from any given text using the TF-IDF technique. To make this process accessible, a simple web interface is provided for users to paste or upload documents, while a REST API enables automated extraction for developers and external systems. This allows both technical and non-technical users to quickly identify key ideas and understand the core meaning of long text.</a:t>
              </a:r>
            </a:p>
            <a:p>
              <a:pPr marL="0" lvl="0" indent="0" algn="l">
                <a:lnSpc>
                  <a:spcPts val="2940"/>
                </a:lnSpc>
              </a:pPr>
              <a:endParaRPr lang="en-US" sz="2100" dirty="0">
                <a:solidFill>
                  <a:srgbClr val="3B4D6B"/>
                </a:solidFill>
                <a:latin typeface="DM Sans"/>
                <a:ea typeface="DM Sans"/>
                <a:cs typeface="DM Sans"/>
                <a:sym typeface="DM Sans"/>
              </a:endParaRPr>
            </a:p>
          </p:txBody>
        </p:sp>
        <p:sp>
          <p:nvSpPr>
            <p:cNvPr id="8" name="TextBox 8"/>
            <p:cNvSpPr txBox="1"/>
            <p:nvPr/>
          </p:nvSpPr>
          <p:spPr>
            <a:xfrm>
              <a:off x="0" y="-47625"/>
              <a:ext cx="9938349" cy="569145"/>
            </a:xfrm>
            <a:prstGeom prst="rect">
              <a:avLst/>
            </a:prstGeom>
          </p:spPr>
          <p:txBody>
            <a:bodyPr lIns="0" tIns="0" rIns="0" bIns="0" rtlCol="0" anchor="t">
              <a:spAutoFit/>
            </a:bodyPr>
            <a:lstStyle/>
            <a:p>
              <a:pPr marL="0" lvl="0" indent="0" algn="l">
                <a:lnSpc>
                  <a:spcPts val="3640"/>
                </a:lnSpc>
              </a:pPr>
              <a:r>
                <a:rPr lang="en-US" sz="2600" b="1">
                  <a:solidFill>
                    <a:srgbClr val="6E91C4"/>
                  </a:solidFill>
                  <a:latin typeface="DM Sans Bold"/>
                  <a:ea typeface="DM Sans Bold"/>
                  <a:cs typeface="DM Sans Bold"/>
                  <a:sym typeface="DM Sans Bold"/>
                </a:rPr>
                <a:t>OBJECTIVE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16592550" cy="1149373"/>
          </a:xfrm>
          <a:prstGeom prst="rect">
            <a:avLst/>
          </a:prstGeom>
        </p:spPr>
        <p:txBody>
          <a:bodyPr lIns="0" tIns="0" rIns="0" bIns="0" rtlCol="0" anchor="t">
            <a:spAutoFit/>
          </a:bodyPr>
          <a:lstStyle/>
          <a:p>
            <a:pPr marL="0" lvl="0" indent="0" algn="l">
              <a:lnSpc>
                <a:spcPts val="8800"/>
              </a:lnSpc>
            </a:pPr>
            <a:r>
              <a:rPr lang="en-US" sz="8000">
                <a:solidFill>
                  <a:srgbClr val="3B4D6B"/>
                </a:solidFill>
                <a:latin typeface="Georgia Pro Light"/>
                <a:ea typeface="Georgia Pro Light"/>
                <a:cs typeface="Georgia Pro Light"/>
                <a:sym typeface="Georgia Pro Light"/>
              </a:rPr>
              <a:t>System Architecture and Tech Stack</a:t>
            </a:r>
          </a:p>
        </p:txBody>
      </p:sp>
      <p:grpSp>
        <p:nvGrpSpPr>
          <p:cNvPr id="3" name="Group 3"/>
          <p:cNvGrpSpPr/>
          <p:nvPr/>
        </p:nvGrpSpPr>
        <p:grpSpPr>
          <a:xfrm>
            <a:off x="666750" y="3451896"/>
            <a:ext cx="8743758" cy="3795171"/>
            <a:chOff x="0" y="0"/>
            <a:chExt cx="11658345" cy="5060228"/>
          </a:xfrm>
        </p:grpSpPr>
        <p:sp>
          <p:nvSpPr>
            <p:cNvPr id="4" name="TextBox 4"/>
            <p:cNvSpPr txBox="1"/>
            <p:nvPr/>
          </p:nvSpPr>
          <p:spPr>
            <a:xfrm>
              <a:off x="0" y="625539"/>
              <a:ext cx="11658345" cy="4434689"/>
            </a:xfrm>
            <a:prstGeom prst="rect">
              <a:avLst/>
            </a:prstGeom>
          </p:spPr>
          <p:txBody>
            <a:bodyPr lIns="0" tIns="0" rIns="0" bIns="0" rtlCol="0" anchor="t">
              <a:spAutoFit/>
            </a:bodyPr>
            <a:lstStyle/>
            <a:p>
              <a:pPr marL="453390" lvl="1" indent="-226695" algn="l">
                <a:lnSpc>
                  <a:spcPts val="2940"/>
                </a:lnSpc>
                <a:buFont typeface="Arial"/>
                <a:buChar char="•"/>
              </a:pPr>
              <a:r>
                <a:rPr lang="en-US" sz="2100" dirty="0">
                  <a:solidFill>
                    <a:srgbClr val="3B4D6B"/>
                  </a:solidFill>
                  <a:latin typeface="DM Sans"/>
                  <a:ea typeface="DM Sans"/>
                  <a:cs typeface="DM Sans"/>
                  <a:sym typeface="DM Sans"/>
                </a:rPr>
                <a:t>Flask (UI Layer): Handles user interaction — text input, uploads, previews</a:t>
              </a:r>
            </a:p>
            <a:p>
              <a:pPr marL="453390" lvl="1" indent="-226695" algn="l">
                <a:lnSpc>
                  <a:spcPts val="2940"/>
                </a:lnSpc>
                <a:buFont typeface="Arial"/>
                <a:buChar char="•"/>
              </a:pPr>
              <a:r>
                <a:rPr lang="en-US" sz="2100" dirty="0" err="1">
                  <a:solidFill>
                    <a:srgbClr val="3B4D6B"/>
                  </a:solidFill>
                  <a:latin typeface="DM Sans"/>
                  <a:ea typeface="DM Sans"/>
                  <a:cs typeface="DM Sans"/>
                  <a:sym typeface="DM Sans"/>
                </a:rPr>
                <a:t>FastAPI</a:t>
              </a:r>
              <a:r>
                <a:rPr lang="en-US" sz="2100" dirty="0">
                  <a:solidFill>
                    <a:srgbClr val="3B4D6B"/>
                  </a:solidFill>
                  <a:latin typeface="DM Sans"/>
                  <a:ea typeface="DM Sans"/>
                  <a:cs typeface="DM Sans"/>
                  <a:sym typeface="DM Sans"/>
                </a:rPr>
                <a:t> (API Layer): Processes text and returns keywords as JSON</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Communication: UI sends requests to /</a:t>
              </a:r>
              <a:r>
                <a:rPr lang="en-US" sz="2100" dirty="0" err="1">
                  <a:solidFill>
                    <a:srgbClr val="3B4D6B"/>
                  </a:solidFill>
                  <a:latin typeface="DM Sans"/>
                  <a:ea typeface="DM Sans"/>
                  <a:cs typeface="DM Sans"/>
                  <a:sym typeface="DM Sans"/>
                </a:rPr>
                <a:t>api</a:t>
              </a:r>
              <a:r>
                <a:rPr lang="en-US" sz="2100" dirty="0">
                  <a:solidFill>
                    <a:srgbClr val="3B4D6B"/>
                  </a:solidFill>
                  <a:latin typeface="DM Sans"/>
                  <a:ea typeface="DM Sans"/>
                  <a:cs typeface="DM Sans"/>
                  <a:sym typeface="DM Sans"/>
                </a:rPr>
                <a:t>/keywords for live results</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Integration: Starlette mounts Flask (WSGI) + </a:t>
              </a:r>
              <a:r>
                <a:rPr lang="en-US" sz="2100" dirty="0" err="1">
                  <a:solidFill>
                    <a:srgbClr val="3B4D6B"/>
                  </a:solidFill>
                  <a:latin typeface="DM Sans"/>
                  <a:ea typeface="DM Sans"/>
                  <a:cs typeface="DM Sans"/>
                  <a:sym typeface="DM Sans"/>
                </a:rPr>
                <a:t>FastAPI</a:t>
              </a:r>
              <a:r>
                <a:rPr lang="en-US" sz="2100" dirty="0">
                  <a:solidFill>
                    <a:srgbClr val="3B4D6B"/>
                  </a:solidFill>
                  <a:latin typeface="DM Sans"/>
                  <a:ea typeface="DM Sans"/>
                  <a:cs typeface="DM Sans"/>
                  <a:sym typeface="DM Sans"/>
                </a:rPr>
                <a:t> (ASGI) together</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Server: </a:t>
              </a:r>
              <a:r>
                <a:rPr lang="en-US" sz="2100" dirty="0" err="1">
                  <a:solidFill>
                    <a:srgbClr val="3B4D6B"/>
                  </a:solidFill>
                  <a:latin typeface="DM Sans"/>
                  <a:ea typeface="DM Sans"/>
                  <a:cs typeface="DM Sans"/>
                  <a:sym typeface="DM Sans"/>
                </a:rPr>
                <a:t>Uvicorn</a:t>
              </a:r>
              <a:r>
                <a:rPr lang="en-US" sz="2100" dirty="0">
                  <a:solidFill>
                    <a:srgbClr val="3B4D6B"/>
                  </a:solidFill>
                  <a:latin typeface="DM Sans"/>
                  <a:ea typeface="DM Sans"/>
                  <a:cs typeface="DM Sans"/>
                  <a:sym typeface="DM Sans"/>
                </a:rPr>
                <a:t> runs the unified application with async performance</a:t>
              </a:r>
            </a:p>
            <a:p>
              <a:pPr marL="0" lvl="0" indent="0" algn="l">
                <a:lnSpc>
                  <a:spcPts val="2940"/>
                </a:lnSpc>
              </a:pPr>
              <a:endParaRPr lang="en-US" sz="2100" dirty="0">
                <a:solidFill>
                  <a:srgbClr val="3B4D6B"/>
                </a:solidFill>
                <a:latin typeface="DM Sans"/>
                <a:ea typeface="DM Sans"/>
                <a:cs typeface="DM Sans"/>
                <a:sym typeface="DM Sans"/>
              </a:endParaRPr>
            </a:p>
          </p:txBody>
        </p:sp>
        <p:sp>
          <p:nvSpPr>
            <p:cNvPr id="5" name="TextBox 5"/>
            <p:cNvSpPr txBox="1"/>
            <p:nvPr/>
          </p:nvSpPr>
          <p:spPr>
            <a:xfrm>
              <a:off x="0" y="-47625"/>
              <a:ext cx="11658345" cy="569145"/>
            </a:xfrm>
            <a:prstGeom prst="rect">
              <a:avLst/>
            </a:prstGeom>
          </p:spPr>
          <p:txBody>
            <a:bodyPr lIns="0" tIns="0" rIns="0" bIns="0" rtlCol="0" anchor="t">
              <a:spAutoFit/>
            </a:bodyPr>
            <a:lstStyle/>
            <a:p>
              <a:pPr marL="0" lvl="0" indent="0" algn="l">
                <a:lnSpc>
                  <a:spcPts val="3640"/>
                </a:lnSpc>
              </a:pPr>
              <a:r>
                <a:rPr lang="en-US" sz="2600" b="1">
                  <a:solidFill>
                    <a:srgbClr val="6E91C4"/>
                  </a:solidFill>
                  <a:latin typeface="DM Sans Bold"/>
                  <a:ea typeface="DM Sans Bold"/>
                  <a:cs typeface="DM Sans Bold"/>
                  <a:sym typeface="DM Sans Bold"/>
                </a:rPr>
                <a:t>SYSTEM ARCHITECTURE</a:t>
              </a:r>
            </a:p>
          </p:txBody>
        </p:sp>
      </p:grpSp>
      <p:grpSp>
        <p:nvGrpSpPr>
          <p:cNvPr id="6" name="Group 6"/>
          <p:cNvGrpSpPr/>
          <p:nvPr/>
        </p:nvGrpSpPr>
        <p:grpSpPr>
          <a:xfrm>
            <a:off x="9750258" y="3451896"/>
            <a:ext cx="8838737" cy="3795171"/>
            <a:chOff x="0" y="0"/>
            <a:chExt cx="11784982" cy="5060228"/>
          </a:xfrm>
        </p:grpSpPr>
        <p:sp>
          <p:nvSpPr>
            <p:cNvPr id="7" name="TextBox 7"/>
            <p:cNvSpPr txBox="1"/>
            <p:nvPr/>
          </p:nvSpPr>
          <p:spPr>
            <a:xfrm>
              <a:off x="0" y="625539"/>
              <a:ext cx="11784982" cy="4434689"/>
            </a:xfrm>
            <a:prstGeom prst="rect">
              <a:avLst/>
            </a:prstGeom>
          </p:spPr>
          <p:txBody>
            <a:bodyPr lIns="0" tIns="0" rIns="0" bIns="0" rtlCol="0" anchor="t">
              <a:spAutoFit/>
            </a:bodyPr>
            <a:lstStyle/>
            <a:p>
              <a:pPr marL="453390" lvl="1" indent="-226695" algn="l">
                <a:lnSpc>
                  <a:spcPts val="2940"/>
                </a:lnSpc>
                <a:buFont typeface="Arial"/>
                <a:buChar char="•"/>
              </a:pPr>
              <a:r>
                <a:rPr lang="en-US" sz="2100" dirty="0">
                  <a:solidFill>
                    <a:srgbClr val="3B4D6B"/>
                  </a:solidFill>
                  <a:latin typeface="DM Sans"/>
                  <a:ea typeface="DM Sans"/>
                  <a:cs typeface="DM Sans"/>
                  <a:sym typeface="DM Sans"/>
                </a:rPr>
                <a:t>Programming &amp; Frameworks:</a:t>
              </a:r>
            </a:p>
            <a:p>
              <a:pPr marL="906780" lvl="2" indent="-302260" algn="l">
                <a:lnSpc>
                  <a:spcPts val="2940"/>
                </a:lnSpc>
                <a:buFont typeface="Arial"/>
                <a:buChar char="⚬"/>
              </a:pPr>
              <a:r>
                <a:rPr lang="en-US" sz="2100" dirty="0">
                  <a:solidFill>
                    <a:srgbClr val="3B4D6B"/>
                  </a:solidFill>
                  <a:latin typeface="DM Sans"/>
                  <a:ea typeface="DM Sans"/>
                  <a:cs typeface="DM Sans"/>
                  <a:sym typeface="DM Sans"/>
                </a:rPr>
                <a:t> Python, Flask, </a:t>
              </a:r>
              <a:r>
                <a:rPr lang="en-US" sz="2100" dirty="0" err="1">
                  <a:solidFill>
                    <a:srgbClr val="3B4D6B"/>
                  </a:solidFill>
                  <a:latin typeface="DM Sans"/>
                  <a:ea typeface="DM Sans"/>
                  <a:cs typeface="DM Sans"/>
                  <a:sym typeface="DM Sans"/>
                </a:rPr>
                <a:t>FastAPI</a:t>
              </a:r>
              <a:r>
                <a:rPr lang="en-US" sz="2100" dirty="0">
                  <a:solidFill>
                    <a:srgbClr val="3B4D6B"/>
                  </a:solidFill>
                  <a:latin typeface="DM Sans"/>
                  <a:ea typeface="DM Sans"/>
                  <a:cs typeface="DM Sans"/>
                  <a:sym typeface="DM Sans"/>
                </a:rPr>
                <a:t>, Starlette</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NLP &amp; ML:</a:t>
              </a:r>
            </a:p>
            <a:p>
              <a:pPr marL="906780" lvl="2" indent="-302260" algn="l">
                <a:lnSpc>
                  <a:spcPts val="2940"/>
                </a:lnSpc>
                <a:buFont typeface="Arial"/>
                <a:buChar char="⚬"/>
              </a:pPr>
              <a:r>
                <a:rPr lang="en-US" sz="2100" dirty="0">
                  <a:solidFill>
                    <a:srgbClr val="3B4D6B"/>
                  </a:solidFill>
                  <a:latin typeface="DM Sans"/>
                  <a:ea typeface="DM Sans"/>
                  <a:cs typeface="DM Sans"/>
                  <a:sym typeface="DM Sans"/>
                </a:rPr>
                <a:t> Scikit-learn (TF-IDF Vectorizer)</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Frontend:</a:t>
              </a:r>
            </a:p>
            <a:p>
              <a:pPr marL="906780" lvl="2" indent="-302260" algn="l">
                <a:lnSpc>
                  <a:spcPts val="2940"/>
                </a:lnSpc>
                <a:buFont typeface="Arial"/>
                <a:buChar char="⚬"/>
              </a:pPr>
              <a:r>
                <a:rPr lang="en-US" sz="2100" dirty="0">
                  <a:solidFill>
                    <a:srgbClr val="3B4D6B"/>
                  </a:solidFill>
                  <a:latin typeface="DM Sans"/>
                  <a:ea typeface="DM Sans"/>
                  <a:cs typeface="DM Sans"/>
                  <a:sym typeface="DM Sans"/>
                </a:rPr>
                <a:t> HTML, CSS, JavaScript </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Server &amp; Tools:</a:t>
              </a:r>
            </a:p>
            <a:p>
              <a:pPr marL="906780" lvl="2" indent="-302260" algn="l">
                <a:lnSpc>
                  <a:spcPts val="2940"/>
                </a:lnSpc>
                <a:buFont typeface="Arial"/>
                <a:buChar char="⚬"/>
              </a:pPr>
              <a:r>
                <a:rPr lang="en-US" sz="2100" dirty="0">
                  <a:solidFill>
                    <a:srgbClr val="3B4D6B"/>
                  </a:solidFill>
                  <a:latin typeface="DM Sans"/>
                  <a:ea typeface="DM Sans"/>
                  <a:cs typeface="DM Sans"/>
                  <a:sym typeface="DM Sans"/>
                </a:rPr>
                <a:t> </a:t>
              </a:r>
              <a:r>
                <a:rPr lang="en-US" sz="2100" dirty="0" err="1">
                  <a:solidFill>
                    <a:srgbClr val="3B4D6B"/>
                  </a:solidFill>
                  <a:latin typeface="DM Sans"/>
                  <a:ea typeface="DM Sans"/>
                  <a:cs typeface="DM Sans"/>
                  <a:sym typeface="DM Sans"/>
                </a:rPr>
                <a:t>Uvicorn</a:t>
              </a:r>
              <a:r>
                <a:rPr lang="en-US" sz="2100" dirty="0">
                  <a:solidFill>
                    <a:srgbClr val="3B4D6B"/>
                  </a:solidFill>
                  <a:latin typeface="DM Sans"/>
                  <a:ea typeface="DM Sans"/>
                  <a:cs typeface="DM Sans"/>
                  <a:sym typeface="DM Sans"/>
                </a:rPr>
                <a:t>, </a:t>
              </a:r>
              <a:r>
                <a:rPr lang="en-US" sz="2100" dirty="0" err="1">
                  <a:solidFill>
                    <a:srgbClr val="3B4D6B"/>
                  </a:solidFill>
                  <a:latin typeface="DM Sans"/>
                  <a:ea typeface="DM Sans"/>
                  <a:cs typeface="DM Sans"/>
                  <a:sym typeface="DM Sans"/>
                </a:rPr>
                <a:t>Pydantic</a:t>
              </a:r>
              <a:r>
                <a:rPr lang="en-US" sz="2100" dirty="0">
                  <a:solidFill>
                    <a:srgbClr val="3B4D6B"/>
                  </a:solidFill>
                  <a:latin typeface="DM Sans"/>
                  <a:ea typeface="DM Sans"/>
                  <a:cs typeface="DM Sans"/>
                  <a:sym typeface="DM Sans"/>
                </a:rPr>
                <a:t> validation, </a:t>
              </a:r>
              <a:r>
                <a:rPr lang="en-US" sz="2100" dirty="0" err="1">
                  <a:solidFill>
                    <a:srgbClr val="3B4D6B"/>
                  </a:solidFill>
                  <a:latin typeface="DM Sans"/>
                  <a:ea typeface="DM Sans"/>
                  <a:cs typeface="DM Sans"/>
                  <a:sym typeface="DM Sans"/>
                </a:rPr>
                <a:t>pytest</a:t>
              </a:r>
              <a:r>
                <a:rPr lang="en-US" sz="2100" dirty="0">
                  <a:solidFill>
                    <a:srgbClr val="3B4D6B"/>
                  </a:solidFill>
                  <a:latin typeface="DM Sans"/>
                  <a:ea typeface="DM Sans"/>
                  <a:cs typeface="DM Sans"/>
                  <a:sym typeface="DM Sans"/>
                </a:rPr>
                <a:t> testing</a:t>
              </a:r>
            </a:p>
            <a:p>
              <a:pPr marL="0" lvl="0" indent="0" algn="l">
                <a:lnSpc>
                  <a:spcPts val="2940"/>
                </a:lnSpc>
              </a:pPr>
              <a:endParaRPr lang="en-US" sz="2100" dirty="0">
                <a:solidFill>
                  <a:srgbClr val="3B4D6B"/>
                </a:solidFill>
                <a:latin typeface="DM Sans"/>
                <a:ea typeface="DM Sans"/>
                <a:cs typeface="DM Sans"/>
                <a:sym typeface="DM Sans"/>
              </a:endParaRPr>
            </a:p>
          </p:txBody>
        </p:sp>
        <p:sp>
          <p:nvSpPr>
            <p:cNvPr id="8" name="TextBox 8"/>
            <p:cNvSpPr txBox="1"/>
            <p:nvPr/>
          </p:nvSpPr>
          <p:spPr>
            <a:xfrm>
              <a:off x="0" y="-47625"/>
              <a:ext cx="11784982" cy="569145"/>
            </a:xfrm>
            <a:prstGeom prst="rect">
              <a:avLst/>
            </a:prstGeom>
          </p:spPr>
          <p:txBody>
            <a:bodyPr lIns="0" tIns="0" rIns="0" bIns="0" rtlCol="0" anchor="t">
              <a:spAutoFit/>
            </a:bodyPr>
            <a:lstStyle/>
            <a:p>
              <a:pPr marL="0" lvl="0" indent="0" algn="l">
                <a:lnSpc>
                  <a:spcPts val="3640"/>
                </a:lnSpc>
              </a:pPr>
              <a:r>
                <a:rPr lang="en-US" sz="2600" b="1">
                  <a:solidFill>
                    <a:srgbClr val="6E91C4"/>
                  </a:solidFill>
                  <a:latin typeface="DM Sans Bold"/>
                  <a:ea typeface="DM Sans Bold"/>
                  <a:cs typeface="DM Sans Bold"/>
                  <a:sym typeface="DM Sans Bold"/>
                </a:rPr>
                <a:t>TECH STACK</a:t>
              </a:r>
            </a:p>
          </p:txBody>
        </p:sp>
      </p:grpSp>
      <p:grpSp>
        <p:nvGrpSpPr>
          <p:cNvPr id="9" name="Group 9"/>
          <p:cNvGrpSpPr/>
          <p:nvPr/>
        </p:nvGrpSpPr>
        <p:grpSpPr>
          <a:xfrm>
            <a:off x="666750" y="7247067"/>
            <a:ext cx="7870992" cy="826287"/>
            <a:chOff x="0" y="0"/>
            <a:chExt cx="10494656" cy="1101716"/>
          </a:xfrm>
        </p:grpSpPr>
        <p:sp>
          <p:nvSpPr>
            <p:cNvPr id="10" name="TextBox 10"/>
            <p:cNvSpPr txBox="1"/>
            <p:nvPr/>
          </p:nvSpPr>
          <p:spPr>
            <a:xfrm>
              <a:off x="482600" y="629857"/>
              <a:ext cx="10012056" cy="471859"/>
            </a:xfrm>
            <a:prstGeom prst="rect">
              <a:avLst/>
            </a:prstGeom>
          </p:spPr>
          <p:txBody>
            <a:bodyPr lIns="0" tIns="0" rIns="0" bIns="0" rtlCol="0" anchor="t">
              <a:spAutoFit/>
            </a:bodyPr>
            <a:lstStyle/>
            <a:p>
              <a:pPr marL="0" lvl="0" indent="0" algn="l">
                <a:lnSpc>
                  <a:spcPts val="2940"/>
                </a:lnSpc>
              </a:pPr>
              <a:r>
                <a:rPr lang="en-US" sz="2100" dirty="0">
                  <a:solidFill>
                    <a:srgbClr val="3B4D6B"/>
                  </a:solidFill>
                  <a:latin typeface="DM Sans"/>
                  <a:ea typeface="DM Sans"/>
                  <a:cs typeface="DM Sans"/>
                  <a:sym typeface="DM Sans"/>
                </a:rPr>
                <a:t>Browser → Flask UI → </a:t>
              </a:r>
              <a:r>
                <a:rPr lang="en-US" sz="2100" dirty="0" err="1">
                  <a:solidFill>
                    <a:srgbClr val="3B4D6B"/>
                  </a:solidFill>
                  <a:latin typeface="DM Sans"/>
                  <a:ea typeface="DM Sans"/>
                  <a:cs typeface="DM Sans"/>
                  <a:sym typeface="DM Sans"/>
                </a:rPr>
                <a:t>FastAPI</a:t>
              </a:r>
              <a:r>
                <a:rPr lang="en-US" sz="2100" dirty="0">
                  <a:solidFill>
                    <a:srgbClr val="3B4D6B"/>
                  </a:solidFill>
                  <a:latin typeface="DM Sans"/>
                  <a:ea typeface="DM Sans"/>
                  <a:cs typeface="DM Sans"/>
                  <a:sym typeface="DM Sans"/>
                </a:rPr>
                <a:t> API → TF-IDF Engine</a:t>
              </a:r>
            </a:p>
          </p:txBody>
        </p:sp>
        <p:sp>
          <p:nvSpPr>
            <p:cNvPr id="11" name="TextBox 11"/>
            <p:cNvSpPr txBox="1"/>
            <p:nvPr/>
          </p:nvSpPr>
          <p:spPr>
            <a:xfrm>
              <a:off x="0" y="-47625"/>
              <a:ext cx="10012056" cy="569145"/>
            </a:xfrm>
            <a:prstGeom prst="rect">
              <a:avLst/>
            </a:prstGeom>
          </p:spPr>
          <p:txBody>
            <a:bodyPr lIns="0" tIns="0" rIns="0" bIns="0" rtlCol="0" anchor="t">
              <a:spAutoFit/>
            </a:bodyPr>
            <a:lstStyle/>
            <a:p>
              <a:pPr marL="0" lvl="0" indent="0" algn="l">
                <a:lnSpc>
                  <a:spcPts val="3640"/>
                </a:lnSpc>
              </a:pPr>
              <a:r>
                <a:rPr lang="en-US" sz="2600" b="1">
                  <a:solidFill>
                    <a:srgbClr val="6E91C4"/>
                  </a:solidFill>
                  <a:latin typeface="DM Sans Bold"/>
                  <a:ea typeface="DM Sans Bold"/>
                  <a:cs typeface="DM Sans Bold"/>
                  <a:sym typeface="DM Sans Bold"/>
                </a:rPr>
                <a:t>FLOW</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AutoShape 2"/>
          <p:cNvSpPr/>
          <p:nvPr/>
        </p:nvSpPr>
        <p:spPr>
          <a:xfrm>
            <a:off x="2723463" y="4628802"/>
            <a:ext cx="16102484" cy="0"/>
          </a:xfrm>
          <a:prstGeom prst="line">
            <a:avLst/>
          </a:prstGeom>
          <a:ln w="19050" cap="flat">
            <a:solidFill>
              <a:srgbClr val="3B4D6B"/>
            </a:solidFill>
            <a:prstDash val="solid"/>
            <a:headEnd type="none" w="sm" len="sm"/>
            <a:tailEnd type="none" w="sm" len="sm"/>
          </a:ln>
        </p:spPr>
        <p:txBody>
          <a:bodyPr/>
          <a:lstStyle/>
          <a:p>
            <a:endParaRPr lang="en-IN"/>
          </a:p>
        </p:txBody>
      </p:sp>
      <p:sp>
        <p:nvSpPr>
          <p:cNvPr id="3" name="TextBox 3"/>
          <p:cNvSpPr txBox="1"/>
          <p:nvPr/>
        </p:nvSpPr>
        <p:spPr>
          <a:xfrm>
            <a:off x="666750" y="733425"/>
            <a:ext cx="15821025" cy="1149353"/>
          </a:xfrm>
          <a:prstGeom prst="rect">
            <a:avLst/>
          </a:prstGeom>
        </p:spPr>
        <p:txBody>
          <a:bodyPr lIns="0" tIns="0" rIns="0" bIns="0" rtlCol="0" anchor="t">
            <a:spAutoFit/>
          </a:bodyPr>
          <a:lstStyle/>
          <a:p>
            <a:pPr marL="0" lvl="0" indent="0" algn="l">
              <a:lnSpc>
                <a:spcPts val="8800"/>
              </a:lnSpc>
              <a:spcBef>
                <a:spcPct val="0"/>
              </a:spcBef>
            </a:pPr>
            <a:r>
              <a:rPr lang="en-US" sz="8000" u="none" strike="noStrike">
                <a:solidFill>
                  <a:srgbClr val="3B4D6B"/>
                </a:solidFill>
                <a:latin typeface="Georgia Pro Light"/>
                <a:ea typeface="Georgia Pro Light"/>
                <a:cs typeface="Georgia Pro Light"/>
                <a:sym typeface="Georgia Pro Light"/>
              </a:rPr>
              <a:t>TF-IDF Keyword Extraction</a:t>
            </a:r>
          </a:p>
        </p:txBody>
      </p:sp>
      <p:sp>
        <p:nvSpPr>
          <p:cNvPr id="4" name="TextBox 4"/>
          <p:cNvSpPr txBox="1"/>
          <p:nvPr/>
        </p:nvSpPr>
        <p:spPr>
          <a:xfrm>
            <a:off x="2399612" y="3281155"/>
            <a:ext cx="3086787" cy="438785"/>
          </a:xfrm>
          <a:prstGeom prst="rect">
            <a:avLst/>
          </a:prstGeom>
        </p:spPr>
        <p:txBody>
          <a:bodyPr wrap="square" lIns="0" tIns="0" rIns="0" bIns="0" rtlCol="0" anchor="t">
            <a:spAutoFit/>
          </a:bodyPr>
          <a:lstStyle/>
          <a:p>
            <a:pPr marL="0" lvl="0" indent="0" algn="l">
              <a:lnSpc>
                <a:spcPts val="3640"/>
              </a:lnSpc>
              <a:spcBef>
                <a:spcPct val="0"/>
              </a:spcBef>
            </a:pPr>
            <a:r>
              <a:rPr lang="en-US" sz="2600" u="none" strike="noStrike" dirty="0">
                <a:solidFill>
                  <a:srgbClr val="6E91C4"/>
                </a:solidFill>
                <a:latin typeface="DM Sans"/>
                <a:ea typeface="DM Sans"/>
                <a:cs typeface="DM Sans"/>
                <a:sym typeface="DM Sans"/>
              </a:rPr>
              <a:t>PREPROCESSING</a:t>
            </a:r>
          </a:p>
        </p:txBody>
      </p:sp>
      <p:sp>
        <p:nvSpPr>
          <p:cNvPr id="5" name="TextBox 5"/>
          <p:cNvSpPr txBox="1"/>
          <p:nvPr/>
        </p:nvSpPr>
        <p:spPr>
          <a:xfrm>
            <a:off x="2399613" y="5463015"/>
            <a:ext cx="4065699" cy="2966408"/>
          </a:xfrm>
          <a:prstGeom prst="rect">
            <a:avLst/>
          </a:prstGeom>
        </p:spPr>
        <p:txBody>
          <a:bodyPr lIns="0" tIns="0" rIns="0" bIns="0" rtlCol="0" anchor="t">
            <a:spAutoFit/>
          </a:bodyPr>
          <a:lstStyle/>
          <a:p>
            <a:pPr marL="453390" lvl="1" indent="-226695" algn="l">
              <a:lnSpc>
                <a:spcPts val="2940"/>
              </a:lnSpc>
              <a:spcBef>
                <a:spcPct val="0"/>
              </a:spcBef>
              <a:buFont typeface="Arial"/>
              <a:buChar char="•"/>
            </a:pPr>
            <a:r>
              <a:rPr lang="en-US" sz="2100" dirty="0">
                <a:solidFill>
                  <a:srgbClr val="3B4D6B"/>
                </a:solidFill>
                <a:latin typeface="DM Sans"/>
                <a:ea typeface="DM Sans"/>
                <a:cs typeface="DM Sans"/>
                <a:sym typeface="DM Sans"/>
              </a:rPr>
              <a:t>Conv</a:t>
            </a:r>
            <a:r>
              <a:rPr lang="en-US" sz="2100" u="none" strike="noStrike" dirty="0">
                <a:solidFill>
                  <a:srgbClr val="3B4D6B"/>
                </a:solidFill>
                <a:latin typeface="DM Sans"/>
                <a:ea typeface="DM Sans"/>
                <a:cs typeface="DM Sans"/>
                <a:sym typeface="DM Sans"/>
              </a:rPr>
              <a:t>ert text to lowercase</a:t>
            </a:r>
          </a:p>
          <a:p>
            <a:pPr marL="453390" lvl="1" indent="-226695"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Remove unwanted characters using regex</a:t>
            </a:r>
          </a:p>
          <a:p>
            <a:pPr marL="453390" lvl="1" indent="-226695"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Optional normalization to reduce word suffixes</a:t>
            </a:r>
          </a:p>
          <a:p>
            <a:pPr marL="453390" lvl="1" indent="-226695"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 (e.g., “running” → “run”, “studies” → “study”)</a:t>
            </a:r>
          </a:p>
          <a:p>
            <a:pPr marL="0" lvl="0" indent="0" algn="l">
              <a:lnSpc>
                <a:spcPts val="2940"/>
              </a:lnSpc>
              <a:spcBef>
                <a:spcPct val="0"/>
              </a:spcBef>
            </a:pPr>
            <a:endParaRPr lang="en-US" sz="2100" u="none" strike="noStrike" dirty="0">
              <a:solidFill>
                <a:srgbClr val="3B4D6B"/>
              </a:solidFill>
              <a:latin typeface="DM Sans"/>
              <a:ea typeface="DM Sans"/>
              <a:cs typeface="DM Sans"/>
              <a:sym typeface="DM Sans"/>
            </a:endParaRPr>
          </a:p>
        </p:txBody>
      </p:sp>
      <p:sp>
        <p:nvSpPr>
          <p:cNvPr id="6" name="TextBox 6"/>
          <p:cNvSpPr txBox="1"/>
          <p:nvPr/>
        </p:nvSpPr>
        <p:spPr>
          <a:xfrm>
            <a:off x="7474962" y="3317679"/>
            <a:ext cx="2876550" cy="438785"/>
          </a:xfrm>
          <a:prstGeom prst="rect">
            <a:avLst/>
          </a:prstGeom>
        </p:spPr>
        <p:txBody>
          <a:bodyPr lIns="0" tIns="0" rIns="0" bIns="0" rtlCol="0" anchor="t">
            <a:spAutoFit/>
          </a:bodyPr>
          <a:lstStyle/>
          <a:p>
            <a:pPr marL="0" lvl="0" indent="0" algn="l">
              <a:lnSpc>
                <a:spcPts val="3640"/>
              </a:lnSpc>
              <a:spcBef>
                <a:spcPct val="0"/>
              </a:spcBef>
            </a:pPr>
            <a:r>
              <a:rPr lang="en-US" sz="2600" u="none" strike="noStrike" dirty="0">
                <a:solidFill>
                  <a:srgbClr val="6E91C4"/>
                </a:solidFill>
                <a:latin typeface="DM Sans"/>
                <a:ea typeface="DM Sans"/>
                <a:cs typeface="DM Sans"/>
                <a:sym typeface="DM Sans"/>
              </a:rPr>
              <a:t>VECTORIZATION</a:t>
            </a:r>
          </a:p>
        </p:txBody>
      </p:sp>
      <p:sp>
        <p:nvSpPr>
          <p:cNvPr id="7" name="TextBox 7"/>
          <p:cNvSpPr txBox="1"/>
          <p:nvPr/>
        </p:nvSpPr>
        <p:spPr>
          <a:xfrm>
            <a:off x="7474962" y="5463015"/>
            <a:ext cx="4369771" cy="1851862"/>
          </a:xfrm>
          <a:prstGeom prst="rect">
            <a:avLst/>
          </a:prstGeom>
        </p:spPr>
        <p:txBody>
          <a:bodyPr lIns="0" tIns="0" rIns="0" bIns="0" rtlCol="0" anchor="t">
            <a:spAutoFit/>
          </a:bodyPr>
          <a:lstStyle/>
          <a:p>
            <a:pPr marL="453390" lvl="1" indent="-226695" algn="l">
              <a:lnSpc>
                <a:spcPts val="2940"/>
              </a:lnSpc>
              <a:spcBef>
                <a:spcPct val="0"/>
              </a:spcBef>
              <a:buFont typeface="Arial"/>
              <a:buChar char="•"/>
            </a:pPr>
            <a:r>
              <a:rPr lang="en-US" sz="2100" u="none" strike="noStrike" dirty="0" err="1">
                <a:solidFill>
                  <a:srgbClr val="3B4D6B"/>
                </a:solidFill>
                <a:latin typeface="DM Sans"/>
                <a:ea typeface="DM Sans"/>
                <a:cs typeface="DM Sans"/>
                <a:sym typeface="DM Sans"/>
              </a:rPr>
              <a:t>TfidfVectorizer</a:t>
            </a:r>
            <a:r>
              <a:rPr lang="en-US" sz="2100" u="none" strike="noStrike" dirty="0">
                <a:solidFill>
                  <a:srgbClr val="3B4D6B"/>
                </a:solidFill>
                <a:latin typeface="DM Sans"/>
                <a:ea typeface="DM Sans"/>
                <a:cs typeface="DM Sans"/>
                <a:sym typeface="DM Sans"/>
              </a:rPr>
              <a:t>(</a:t>
            </a:r>
            <a:r>
              <a:rPr lang="en-US" sz="2100" u="none" strike="noStrike" dirty="0" err="1">
                <a:solidFill>
                  <a:srgbClr val="3B4D6B"/>
                </a:solidFill>
                <a:latin typeface="DM Sans"/>
                <a:ea typeface="DM Sans"/>
                <a:cs typeface="DM Sans"/>
                <a:sym typeface="DM Sans"/>
              </a:rPr>
              <a:t>stop_words</a:t>
            </a:r>
            <a:r>
              <a:rPr lang="en-US" sz="2100" u="none" strike="noStrike" dirty="0">
                <a:solidFill>
                  <a:srgbClr val="3B4D6B"/>
                </a:solidFill>
                <a:latin typeface="DM Sans"/>
                <a:ea typeface="DM Sans"/>
                <a:cs typeface="DM Sans"/>
                <a:sym typeface="DM Sans"/>
              </a:rPr>
              <a:t>="</a:t>
            </a:r>
            <a:r>
              <a:rPr lang="en-US" sz="2100" u="none" strike="noStrike" dirty="0" err="1">
                <a:solidFill>
                  <a:srgbClr val="3B4D6B"/>
                </a:solidFill>
                <a:latin typeface="DM Sans"/>
                <a:ea typeface="DM Sans"/>
                <a:cs typeface="DM Sans"/>
                <a:sym typeface="DM Sans"/>
              </a:rPr>
              <a:t>english</a:t>
            </a:r>
            <a:r>
              <a:rPr lang="en-US" sz="2100" u="none" strike="noStrike" dirty="0">
                <a:solidFill>
                  <a:srgbClr val="3B4D6B"/>
                </a:solidFill>
                <a:latin typeface="DM Sans"/>
                <a:ea typeface="DM Sans"/>
                <a:cs typeface="DM Sans"/>
                <a:sym typeface="DM Sans"/>
              </a:rPr>
              <a:t>", </a:t>
            </a:r>
            <a:r>
              <a:rPr lang="en-US" sz="2100" u="none" strike="noStrike" dirty="0" err="1">
                <a:solidFill>
                  <a:srgbClr val="3B4D6B"/>
                </a:solidFill>
                <a:latin typeface="DM Sans"/>
                <a:ea typeface="DM Sans"/>
                <a:cs typeface="DM Sans"/>
                <a:sym typeface="DM Sans"/>
              </a:rPr>
              <a:t>ngram_range</a:t>
            </a:r>
            <a:r>
              <a:rPr lang="en-US" sz="2100" u="none" strike="noStrike" dirty="0">
                <a:solidFill>
                  <a:srgbClr val="3B4D6B"/>
                </a:solidFill>
                <a:latin typeface="DM Sans"/>
                <a:ea typeface="DM Sans"/>
                <a:cs typeface="DM Sans"/>
                <a:sym typeface="DM Sans"/>
              </a:rPr>
              <a:t>=(1,2))</a:t>
            </a:r>
          </a:p>
          <a:p>
            <a:pPr marL="453390" lvl="1" indent="-226695"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Captures important words and short key phrases</a:t>
            </a:r>
          </a:p>
          <a:p>
            <a:pPr marL="0" lvl="0" indent="0" algn="l">
              <a:lnSpc>
                <a:spcPts val="2940"/>
              </a:lnSpc>
              <a:spcBef>
                <a:spcPct val="0"/>
              </a:spcBef>
            </a:pPr>
            <a:endParaRPr lang="en-US" sz="2100" u="none" strike="noStrike" dirty="0">
              <a:solidFill>
                <a:srgbClr val="3B4D6B"/>
              </a:solidFill>
              <a:latin typeface="DM Sans"/>
              <a:ea typeface="DM Sans"/>
              <a:cs typeface="DM Sans"/>
              <a:sym typeface="DM Sans"/>
            </a:endParaRPr>
          </a:p>
        </p:txBody>
      </p:sp>
      <p:sp>
        <p:nvSpPr>
          <p:cNvPr id="8" name="TextBox 8"/>
          <p:cNvSpPr txBox="1"/>
          <p:nvPr/>
        </p:nvSpPr>
        <p:spPr>
          <a:xfrm>
            <a:off x="12858459" y="2974701"/>
            <a:ext cx="2876550" cy="895985"/>
          </a:xfrm>
          <a:prstGeom prst="rect">
            <a:avLst/>
          </a:prstGeom>
        </p:spPr>
        <p:txBody>
          <a:bodyPr lIns="0" tIns="0" rIns="0" bIns="0" rtlCol="0" anchor="t">
            <a:spAutoFit/>
          </a:bodyPr>
          <a:lstStyle/>
          <a:p>
            <a:pPr marL="0" lvl="0" indent="0" algn="l">
              <a:lnSpc>
                <a:spcPts val="3640"/>
              </a:lnSpc>
              <a:spcBef>
                <a:spcPct val="0"/>
              </a:spcBef>
            </a:pPr>
            <a:r>
              <a:rPr lang="en-US" sz="2600" u="none" strike="noStrike" dirty="0">
                <a:solidFill>
                  <a:srgbClr val="6E91C4"/>
                </a:solidFill>
                <a:latin typeface="DM Sans"/>
                <a:ea typeface="DM Sans"/>
                <a:cs typeface="DM Sans"/>
                <a:sym typeface="DM Sans"/>
              </a:rPr>
              <a:t>RANKING &amp; SELECTION</a:t>
            </a:r>
          </a:p>
        </p:txBody>
      </p:sp>
      <p:sp>
        <p:nvSpPr>
          <p:cNvPr id="9" name="TextBox 9"/>
          <p:cNvSpPr txBox="1"/>
          <p:nvPr/>
        </p:nvSpPr>
        <p:spPr>
          <a:xfrm>
            <a:off x="12854383" y="5463015"/>
            <a:ext cx="5433617" cy="2966408"/>
          </a:xfrm>
          <a:prstGeom prst="rect">
            <a:avLst/>
          </a:prstGeom>
        </p:spPr>
        <p:txBody>
          <a:bodyPr lIns="0" tIns="0" rIns="0" bIns="0" rtlCol="0" anchor="t">
            <a:spAutoFit/>
          </a:bodyPr>
          <a:lstStyle/>
          <a:p>
            <a:pPr marL="453390" lvl="1" indent="-226695" algn="l">
              <a:lnSpc>
                <a:spcPts val="2940"/>
              </a:lnSpc>
              <a:spcBef>
                <a:spcPct val="0"/>
              </a:spcBef>
              <a:buFont typeface="Arial"/>
              <a:buChar char="•"/>
            </a:pPr>
            <a:r>
              <a:rPr lang="en-US" sz="2100" dirty="0">
                <a:solidFill>
                  <a:srgbClr val="3B4D6B"/>
                </a:solidFill>
                <a:latin typeface="DM Sans"/>
                <a:ea typeface="DM Sans"/>
                <a:cs typeface="DM Sans"/>
                <a:sym typeface="DM Sans"/>
              </a:rPr>
              <a:t>TF-IDF</a:t>
            </a:r>
            <a:r>
              <a:rPr lang="en-US" sz="2100" u="none" strike="noStrike" dirty="0">
                <a:solidFill>
                  <a:srgbClr val="3B4D6B"/>
                </a:solidFill>
                <a:latin typeface="DM Sans"/>
                <a:ea typeface="DM Sans"/>
                <a:cs typeface="DM Sans"/>
                <a:sym typeface="DM Sans"/>
              </a:rPr>
              <a:t> score determines word importance</a:t>
            </a:r>
          </a:p>
          <a:p>
            <a:pPr marL="453390" lvl="1" indent="-226695"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Higher score = more relevant to the document</a:t>
            </a:r>
          </a:p>
          <a:p>
            <a:pPr marL="453390" lvl="1" indent="-226695"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User controls:</a:t>
            </a:r>
          </a:p>
          <a:p>
            <a:pPr marL="906780" lvl="2" indent="-302260"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Max Keywords (e.g., 25)</a:t>
            </a:r>
          </a:p>
          <a:p>
            <a:pPr marL="906780" lvl="2" indent="-302260" algn="l">
              <a:lnSpc>
                <a:spcPts val="2940"/>
              </a:lnSpc>
              <a:spcBef>
                <a:spcPct val="0"/>
              </a:spcBef>
              <a:buFont typeface="Arial"/>
              <a:buChar char="⚬"/>
            </a:pPr>
            <a:r>
              <a:rPr lang="en-US" sz="2100" u="none" strike="noStrike" dirty="0">
                <a:solidFill>
                  <a:srgbClr val="3B4D6B"/>
                </a:solidFill>
                <a:latin typeface="DM Sans"/>
                <a:ea typeface="DM Sans"/>
                <a:cs typeface="DM Sans"/>
                <a:sym typeface="DM Sans"/>
              </a:rPr>
              <a:t>Keyword density (e.g., 35%)</a:t>
            </a:r>
          </a:p>
          <a:p>
            <a:pPr marL="0" lvl="0" indent="0" algn="l">
              <a:lnSpc>
                <a:spcPts val="2940"/>
              </a:lnSpc>
              <a:spcBef>
                <a:spcPct val="0"/>
              </a:spcBef>
            </a:pPr>
            <a:endParaRPr lang="en-US" sz="2100" u="none" strike="noStrike" dirty="0">
              <a:solidFill>
                <a:srgbClr val="3B4D6B"/>
              </a:solidFill>
              <a:latin typeface="DM Sans"/>
              <a:ea typeface="DM Sans"/>
              <a:cs typeface="DM Sans"/>
              <a:sym typeface="DM Sans"/>
            </a:endParaRPr>
          </a:p>
        </p:txBody>
      </p:sp>
      <p:grpSp>
        <p:nvGrpSpPr>
          <p:cNvPr id="10" name="Group 10"/>
          <p:cNvGrpSpPr/>
          <p:nvPr/>
        </p:nvGrpSpPr>
        <p:grpSpPr>
          <a:xfrm>
            <a:off x="2399613" y="4224314"/>
            <a:ext cx="796706" cy="781952"/>
            <a:chOff x="0" y="0"/>
            <a:chExt cx="685800" cy="673100"/>
          </a:xfrm>
        </p:grpSpPr>
        <p:sp>
          <p:nvSpPr>
            <p:cNvPr id="11" name="Freeform 11"/>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3B4D6B"/>
            </a:solidFill>
          </p:spPr>
          <p:txBody>
            <a:bodyPr/>
            <a:lstStyle/>
            <a:p>
              <a:endParaRPr lang="en-IN"/>
            </a:p>
          </p:txBody>
        </p:sp>
        <p:sp>
          <p:nvSpPr>
            <p:cNvPr id="12" name="TextBox 12"/>
            <p:cNvSpPr txBox="1"/>
            <p:nvPr/>
          </p:nvSpPr>
          <p:spPr>
            <a:xfrm>
              <a:off x="139700" y="117475"/>
              <a:ext cx="406400" cy="441325"/>
            </a:xfrm>
            <a:prstGeom prst="rect">
              <a:avLst/>
            </a:prstGeom>
          </p:spPr>
          <p:txBody>
            <a:bodyPr lIns="50800" tIns="50800" rIns="50800" bIns="50800" rtlCol="0" anchor="ctr"/>
            <a:lstStyle/>
            <a:p>
              <a:pPr algn="ctr">
                <a:lnSpc>
                  <a:spcPts val="2940"/>
                </a:lnSpc>
              </a:pPr>
              <a:endParaRPr/>
            </a:p>
          </p:txBody>
        </p:sp>
      </p:grpSp>
      <p:grpSp>
        <p:nvGrpSpPr>
          <p:cNvPr id="13" name="Group 13"/>
          <p:cNvGrpSpPr/>
          <p:nvPr/>
        </p:nvGrpSpPr>
        <p:grpSpPr>
          <a:xfrm>
            <a:off x="7474962" y="4274350"/>
            <a:ext cx="796706" cy="781952"/>
            <a:chOff x="0" y="0"/>
            <a:chExt cx="685800" cy="673100"/>
          </a:xfrm>
        </p:grpSpPr>
        <p:sp>
          <p:nvSpPr>
            <p:cNvPr id="14" name="Freeform 14"/>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3B4D6B"/>
            </a:solidFill>
          </p:spPr>
          <p:txBody>
            <a:bodyPr/>
            <a:lstStyle/>
            <a:p>
              <a:endParaRPr lang="en-IN"/>
            </a:p>
          </p:txBody>
        </p:sp>
        <p:sp>
          <p:nvSpPr>
            <p:cNvPr id="15" name="TextBox 15"/>
            <p:cNvSpPr txBox="1"/>
            <p:nvPr/>
          </p:nvSpPr>
          <p:spPr>
            <a:xfrm>
              <a:off x="139700" y="117475"/>
              <a:ext cx="406400" cy="441325"/>
            </a:xfrm>
            <a:prstGeom prst="rect">
              <a:avLst/>
            </a:prstGeom>
          </p:spPr>
          <p:txBody>
            <a:bodyPr lIns="50800" tIns="50800" rIns="50800" bIns="50800" rtlCol="0" anchor="ctr"/>
            <a:lstStyle/>
            <a:p>
              <a:pPr algn="ctr">
                <a:lnSpc>
                  <a:spcPts val="2940"/>
                </a:lnSpc>
              </a:pPr>
              <a:endParaRPr/>
            </a:p>
          </p:txBody>
        </p:sp>
      </p:grpSp>
      <p:grpSp>
        <p:nvGrpSpPr>
          <p:cNvPr id="16" name="Group 16"/>
          <p:cNvGrpSpPr/>
          <p:nvPr/>
        </p:nvGrpSpPr>
        <p:grpSpPr>
          <a:xfrm>
            <a:off x="12858459" y="4361548"/>
            <a:ext cx="796706" cy="781952"/>
            <a:chOff x="0" y="0"/>
            <a:chExt cx="685800" cy="673100"/>
          </a:xfrm>
        </p:grpSpPr>
        <p:sp>
          <p:nvSpPr>
            <p:cNvPr id="17" name="Freeform 17"/>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3B4D6B"/>
            </a:solidFill>
          </p:spPr>
          <p:txBody>
            <a:bodyPr/>
            <a:lstStyle/>
            <a:p>
              <a:endParaRPr lang="en-IN"/>
            </a:p>
          </p:txBody>
        </p:sp>
        <p:sp>
          <p:nvSpPr>
            <p:cNvPr id="18" name="TextBox 18"/>
            <p:cNvSpPr txBox="1"/>
            <p:nvPr/>
          </p:nvSpPr>
          <p:spPr>
            <a:xfrm>
              <a:off x="139700" y="117475"/>
              <a:ext cx="406400" cy="441325"/>
            </a:xfrm>
            <a:prstGeom prst="rect">
              <a:avLst/>
            </a:prstGeom>
          </p:spPr>
          <p:txBody>
            <a:bodyPr lIns="50800" tIns="50800" rIns="50800" bIns="50800" rtlCol="0" anchor="ctr"/>
            <a:lstStyle/>
            <a:p>
              <a:pPr algn="ctr">
                <a:lnSpc>
                  <a:spcPts val="2940"/>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randombar(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Freeform 2"/>
          <p:cNvSpPr/>
          <p:nvPr/>
        </p:nvSpPr>
        <p:spPr>
          <a:xfrm>
            <a:off x="9569280" y="361065"/>
            <a:ext cx="8671095" cy="9564869"/>
          </a:xfrm>
          <a:custGeom>
            <a:avLst/>
            <a:gdLst/>
            <a:ahLst/>
            <a:cxnLst/>
            <a:rect l="l" t="t" r="r" b="b"/>
            <a:pathLst>
              <a:path w="8671095" h="9564869">
                <a:moveTo>
                  <a:pt x="0" y="0"/>
                </a:moveTo>
                <a:lnTo>
                  <a:pt x="8671095" y="0"/>
                </a:lnTo>
                <a:lnTo>
                  <a:pt x="8671095" y="9564870"/>
                </a:lnTo>
                <a:lnTo>
                  <a:pt x="0" y="9564870"/>
                </a:lnTo>
                <a:lnTo>
                  <a:pt x="0" y="0"/>
                </a:lnTo>
                <a:close/>
              </a:path>
            </a:pathLst>
          </a:custGeom>
          <a:blipFill>
            <a:blip r:embed="rId2"/>
            <a:stretch>
              <a:fillRect l="-1063" t="-2133" r="-1435" b="-4979"/>
            </a:stretch>
          </a:blipFill>
        </p:spPr>
        <p:txBody>
          <a:bodyPr/>
          <a:lstStyle/>
          <a:p>
            <a:endParaRPr lang="en-IN"/>
          </a:p>
        </p:txBody>
      </p:sp>
      <p:sp>
        <p:nvSpPr>
          <p:cNvPr id="3" name="TextBox 3"/>
          <p:cNvSpPr txBox="1"/>
          <p:nvPr/>
        </p:nvSpPr>
        <p:spPr>
          <a:xfrm>
            <a:off x="666750" y="733425"/>
            <a:ext cx="9622353" cy="1149373"/>
          </a:xfrm>
          <a:prstGeom prst="rect">
            <a:avLst/>
          </a:prstGeom>
        </p:spPr>
        <p:txBody>
          <a:bodyPr lIns="0" tIns="0" rIns="0" bIns="0" rtlCol="0" anchor="t">
            <a:spAutoFit/>
          </a:bodyPr>
          <a:lstStyle/>
          <a:p>
            <a:pPr marL="0" lvl="0" indent="0" algn="l">
              <a:lnSpc>
                <a:spcPts val="8800"/>
              </a:lnSpc>
              <a:spcBef>
                <a:spcPct val="0"/>
              </a:spcBef>
            </a:pPr>
            <a:r>
              <a:rPr lang="en-US" sz="8000">
                <a:solidFill>
                  <a:srgbClr val="3B4D6B"/>
                </a:solidFill>
                <a:latin typeface="Georgia Pro Light"/>
                <a:ea typeface="Georgia Pro Light"/>
                <a:cs typeface="Georgia Pro Light"/>
                <a:sym typeface="Georgia Pro Light"/>
              </a:rPr>
              <a:t>Features of the App</a:t>
            </a:r>
          </a:p>
        </p:txBody>
      </p:sp>
      <p:grpSp>
        <p:nvGrpSpPr>
          <p:cNvPr id="4" name="Group 4"/>
          <p:cNvGrpSpPr/>
          <p:nvPr/>
        </p:nvGrpSpPr>
        <p:grpSpPr>
          <a:xfrm>
            <a:off x="666750" y="2394341"/>
            <a:ext cx="7191375" cy="2749159"/>
            <a:chOff x="0" y="0"/>
            <a:chExt cx="9588500" cy="3665545"/>
          </a:xfrm>
        </p:grpSpPr>
        <p:sp>
          <p:nvSpPr>
            <p:cNvPr id="5" name="TextBox 5"/>
            <p:cNvSpPr txBox="1"/>
            <p:nvPr/>
          </p:nvSpPr>
          <p:spPr>
            <a:xfrm>
              <a:off x="0" y="792713"/>
              <a:ext cx="9588500" cy="2872832"/>
            </a:xfrm>
            <a:prstGeom prst="rect">
              <a:avLst/>
            </a:prstGeom>
          </p:spPr>
          <p:txBody>
            <a:bodyPr lIns="0" tIns="0" rIns="0" bIns="0" rtlCol="0" anchor="t">
              <a:spAutoFit/>
            </a:bodyPr>
            <a:lstStyle/>
            <a:p>
              <a:pPr marL="447724" lvl="1" indent="-223862" algn="l">
                <a:lnSpc>
                  <a:spcPts val="2903"/>
                </a:lnSpc>
                <a:buFont typeface="Arial"/>
                <a:buChar char="•"/>
              </a:pPr>
              <a:r>
                <a:rPr lang="en-US" sz="2073">
                  <a:solidFill>
                    <a:srgbClr val="3B4D6B"/>
                  </a:solidFill>
                  <a:latin typeface="DM Sans"/>
                  <a:ea typeface="DM Sans"/>
                  <a:cs typeface="DM Sans"/>
                  <a:sym typeface="DM Sans"/>
                </a:rPr>
                <a:t>Paste text or upload .txt / .md files</a:t>
              </a:r>
            </a:p>
            <a:p>
              <a:pPr marL="447724" lvl="1" indent="-223862" algn="l">
                <a:lnSpc>
                  <a:spcPts val="2903"/>
                </a:lnSpc>
                <a:buFont typeface="Arial"/>
                <a:buChar char="•"/>
              </a:pPr>
              <a:r>
                <a:rPr lang="en-US" sz="2073">
                  <a:solidFill>
                    <a:srgbClr val="3B4D6B"/>
                  </a:solidFill>
                  <a:latin typeface="DM Sans"/>
                  <a:ea typeface="DM Sans"/>
                  <a:cs typeface="DM Sans"/>
                  <a:sym typeface="DM Sans"/>
                </a:rPr>
                <a:t>Simple controls to adjust keyword density and limit</a:t>
              </a:r>
            </a:p>
            <a:p>
              <a:pPr marL="447724" lvl="1" indent="-223862" algn="l">
                <a:lnSpc>
                  <a:spcPts val="2903"/>
                </a:lnSpc>
                <a:buFont typeface="Arial"/>
                <a:buChar char="•"/>
              </a:pPr>
              <a:r>
                <a:rPr lang="en-US" sz="2073">
                  <a:solidFill>
                    <a:srgbClr val="3B4D6B"/>
                  </a:solidFill>
                  <a:latin typeface="DM Sans"/>
                  <a:ea typeface="DM Sans"/>
                  <a:cs typeface="DM Sans"/>
                  <a:sym typeface="DM Sans"/>
                </a:rPr>
                <a:t>Toggle for normalization (reduces word variations)</a:t>
              </a:r>
            </a:p>
            <a:p>
              <a:pPr marL="447724" lvl="1" indent="-223862" algn="l">
                <a:lnSpc>
                  <a:spcPts val="2903"/>
                </a:lnSpc>
                <a:buFont typeface="Arial"/>
                <a:buChar char="•"/>
              </a:pPr>
              <a:r>
                <a:rPr lang="en-US" sz="2073">
                  <a:solidFill>
                    <a:srgbClr val="3B4D6B"/>
                  </a:solidFill>
                  <a:latin typeface="DM Sans"/>
                  <a:ea typeface="DM Sans"/>
                  <a:cs typeface="DM Sans"/>
                  <a:sym typeface="DM Sans"/>
                </a:rPr>
                <a:t>Keywords shown as neat chips with frequency indicators</a:t>
              </a:r>
            </a:p>
            <a:p>
              <a:pPr marL="447724" lvl="1" indent="-223862" algn="l">
                <a:lnSpc>
                  <a:spcPts val="2903"/>
                </a:lnSpc>
                <a:buFont typeface="Arial"/>
                <a:buChar char="•"/>
              </a:pPr>
              <a:r>
                <a:rPr lang="en-US" sz="2073">
                  <a:solidFill>
                    <a:srgbClr val="3B4D6B"/>
                  </a:solidFill>
                  <a:latin typeface="DM Sans"/>
                  <a:ea typeface="DM Sans"/>
                  <a:cs typeface="DM Sans"/>
                  <a:sym typeface="DM Sans"/>
                </a:rPr>
                <a:t>Instant results with automatic live preview</a:t>
              </a:r>
            </a:p>
          </p:txBody>
        </p:sp>
        <p:sp>
          <p:nvSpPr>
            <p:cNvPr id="6" name="TextBox 6"/>
            <p:cNvSpPr txBox="1"/>
            <p:nvPr/>
          </p:nvSpPr>
          <p:spPr>
            <a:xfrm>
              <a:off x="0" y="-47625"/>
              <a:ext cx="9588500" cy="569145"/>
            </a:xfrm>
            <a:prstGeom prst="rect">
              <a:avLst/>
            </a:prstGeom>
          </p:spPr>
          <p:txBody>
            <a:bodyPr lIns="0" tIns="0" rIns="0" bIns="0" rtlCol="0" anchor="t">
              <a:spAutoFit/>
            </a:bodyPr>
            <a:lstStyle/>
            <a:p>
              <a:pPr marL="0" lvl="0" indent="0" algn="l">
                <a:lnSpc>
                  <a:spcPts val="3640"/>
                </a:lnSpc>
              </a:pPr>
              <a:r>
                <a:rPr lang="en-US" sz="2600" b="1" dirty="0">
                  <a:solidFill>
                    <a:srgbClr val="6E91C4"/>
                  </a:solidFill>
                  <a:latin typeface="DM Sans Bold"/>
                  <a:ea typeface="DM Sans Bold"/>
                  <a:cs typeface="DM Sans Bold"/>
                  <a:sym typeface="DM Sans Bold"/>
                </a:rPr>
                <a:t>EASY-TO-USE WEB APP</a:t>
              </a:r>
            </a:p>
          </p:txBody>
        </p:sp>
      </p:grpSp>
      <p:grpSp>
        <p:nvGrpSpPr>
          <p:cNvPr id="7" name="Group 7"/>
          <p:cNvGrpSpPr/>
          <p:nvPr/>
        </p:nvGrpSpPr>
        <p:grpSpPr>
          <a:xfrm>
            <a:off x="666750" y="5686636"/>
            <a:ext cx="7191375" cy="1655667"/>
            <a:chOff x="0" y="0"/>
            <a:chExt cx="9588500" cy="2207556"/>
          </a:xfrm>
        </p:grpSpPr>
        <p:sp>
          <p:nvSpPr>
            <p:cNvPr id="8" name="TextBox 8"/>
            <p:cNvSpPr txBox="1"/>
            <p:nvPr/>
          </p:nvSpPr>
          <p:spPr>
            <a:xfrm>
              <a:off x="0" y="782443"/>
              <a:ext cx="9588500" cy="1425113"/>
            </a:xfrm>
            <a:prstGeom prst="rect">
              <a:avLst/>
            </a:prstGeom>
          </p:spPr>
          <p:txBody>
            <a:bodyPr lIns="0" tIns="0" rIns="0" bIns="0" rtlCol="0" anchor="t">
              <a:spAutoFit/>
            </a:bodyPr>
            <a:lstStyle/>
            <a:p>
              <a:pPr marL="447724" lvl="1" indent="-223862" algn="l">
                <a:lnSpc>
                  <a:spcPts val="2903"/>
                </a:lnSpc>
                <a:buFont typeface="Arial"/>
                <a:buChar char="•"/>
              </a:pPr>
              <a:r>
                <a:rPr lang="en-US" sz="2073">
                  <a:solidFill>
                    <a:srgbClr val="3B4D6B"/>
                  </a:solidFill>
                  <a:latin typeface="DM Sans"/>
                  <a:ea typeface="DM Sans"/>
                  <a:cs typeface="DM Sans"/>
                  <a:sym typeface="DM Sans"/>
                </a:rPr>
                <a:t>TF-IDF–based ranking with stop-word removal</a:t>
              </a:r>
            </a:p>
            <a:p>
              <a:pPr marL="447724" lvl="1" indent="-223862" algn="l">
                <a:lnSpc>
                  <a:spcPts val="2903"/>
                </a:lnSpc>
                <a:buFont typeface="Arial"/>
                <a:buChar char="•"/>
              </a:pPr>
              <a:r>
                <a:rPr lang="en-US" sz="2073">
                  <a:solidFill>
                    <a:srgbClr val="3B4D6B"/>
                  </a:solidFill>
                  <a:latin typeface="DM Sans"/>
                  <a:ea typeface="DM Sans"/>
                  <a:cs typeface="DM Sans"/>
                  <a:sym typeface="DM Sans"/>
                </a:rPr>
                <a:t>Detects meaningful 1–2 word phrases</a:t>
              </a:r>
            </a:p>
            <a:p>
              <a:pPr marL="447724" lvl="1" indent="-223862" algn="l">
                <a:lnSpc>
                  <a:spcPts val="2903"/>
                </a:lnSpc>
                <a:buFont typeface="Arial"/>
                <a:buChar char="•"/>
              </a:pPr>
              <a:r>
                <a:rPr lang="en-US" sz="2073">
                  <a:solidFill>
                    <a:srgbClr val="3B4D6B"/>
                  </a:solidFill>
                  <a:latin typeface="DM Sans"/>
                  <a:ea typeface="DM Sans"/>
                  <a:cs typeface="DM Sans"/>
                  <a:sym typeface="DM Sans"/>
                </a:rPr>
                <a:t>Ensures only top-scoring keywords are selected</a:t>
              </a:r>
            </a:p>
          </p:txBody>
        </p:sp>
        <p:sp>
          <p:nvSpPr>
            <p:cNvPr id="9" name="TextBox 9"/>
            <p:cNvSpPr txBox="1"/>
            <p:nvPr/>
          </p:nvSpPr>
          <p:spPr>
            <a:xfrm>
              <a:off x="0" y="-47625"/>
              <a:ext cx="9588500" cy="569145"/>
            </a:xfrm>
            <a:prstGeom prst="rect">
              <a:avLst/>
            </a:prstGeom>
          </p:spPr>
          <p:txBody>
            <a:bodyPr lIns="0" tIns="0" rIns="0" bIns="0" rtlCol="0" anchor="t">
              <a:spAutoFit/>
            </a:bodyPr>
            <a:lstStyle/>
            <a:p>
              <a:pPr marL="0" lvl="0" indent="0" algn="l">
                <a:lnSpc>
                  <a:spcPts val="3640"/>
                </a:lnSpc>
              </a:pPr>
              <a:r>
                <a:rPr lang="en-US" sz="2600" b="1" dirty="0">
                  <a:solidFill>
                    <a:srgbClr val="6E91C4"/>
                  </a:solidFill>
                  <a:latin typeface="DM Sans Bold"/>
                  <a:ea typeface="DM Sans Bold"/>
                  <a:cs typeface="DM Sans Bold"/>
                  <a:sym typeface="DM Sans Bold"/>
                </a:rPr>
                <a:t>SMART KEYWORD EXTRACTION</a:t>
              </a:r>
            </a:p>
          </p:txBody>
        </p:sp>
      </p:grpSp>
      <p:grpSp>
        <p:nvGrpSpPr>
          <p:cNvPr id="10" name="Group 10"/>
          <p:cNvGrpSpPr/>
          <p:nvPr/>
        </p:nvGrpSpPr>
        <p:grpSpPr>
          <a:xfrm>
            <a:off x="666750" y="7602633"/>
            <a:ext cx="7191375" cy="1293737"/>
            <a:chOff x="0" y="0"/>
            <a:chExt cx="9588500" cy="1724983"/>
          </a:xfrm>
        </p:grpSpPr>
        <p:sp>
          <p:nvSpPr>
            <p:cNvPr id="11" name="TextBox 11"/>
            <p:cNvSpPr txBox="1"/>
            <p:nvPr/>
          </p:nvSpPr>
          <p:spPr>
            <a:xfrm>
              <a:off x="0" y="782443"/>
              <a:ext cx="9588500" cy="942540"/>
            </a:xfrm>
            <a:prstGeom prst="rect">
              <a:avLst/>
            </a:prstGeom>
          </p:spPr>
          <p:txBody>
            <a:bodyPr lIns="0" tIns="0" rIns="0" bIns="0" rtlCol="0" anchor="t">
              <a:spAutoFit/>
            </a:bodyPr>
            <a:lstStyle/>
            <a:p>
              <a:pPr marL="447724" lvl="1" indent="-223862" algn="l">
                <a:lnSpc>
                  <a:spcPts val="2903"/>
                </a:lnSpc>
                <a:buFont typeface="Arial"/>
                <a:buChar char="•"/>
              </a:pPr>
              <a:r>
                <a:rPr lang="en-US" sz="2073">
                  <a:solidFill>
                    <a:srgbClr val="3B4D6B"/>
                  </a:solidFill>
                  <a:latin typeface="DM Sans"/>
                  <a:ea typeface="DM Sans"/>
                  <a:cs typeface="DM Sans"/>
                  <a:sym typeface="DM Sans"/>
                </a:rPr>
                <a:t>Shows total words, characters, and sentence count</a:t>
              </a:r>
            </a:p>
            <a:p>
              <a:pPr marL="447724" lvl="1" indent="-223862" algn="l">
                <a:lnSpc>
                  <a:spcPts val="2903"/>
                </a:lnSpc>
                <a:buFont typeface="Arial"/>
                <a:buChar char="•"/>
              </a:pPr>
              <a:r>
                <a:rPr lang="en-US" sz="2073">
                  <a:solidFill>
                    <a:srgbClr val="3B4D6B"/>
                  </a:solidFill>
                  <a:latin typeface="DM Sans"/>
                  <a:ea typeface="DM Sans"/>
                  <a:cs typeface="DM Sans"/>
                  <a:sym typeface="DM Sans"/>
                </a:rPr>
                <a:t>Helps users understand input quality</a:t>
              </a:r>
            </a:p>
          </p:txBody>
        </p:sp>
        <p:sp>
          <p:nvSpPr>
            <p:cNvPr id="12" name="TextBox 12"/>
            <p:cNvSpPr txBox="1"/>
            <p:nvPr/>
          </p:nvSpPr>
          <p:spPr>
            <a:xfrm>
              <a:off x="0" y="-47625"/>
              <a:ext cx="9588500" cy="569145"/>
            </a:xfrm>
            <a:prstGeom prst="rect">
              <a:avLst/>
            </a:prstGeom>
          </p:spPr>
          <p:txBody>
            <a:bodyPr lIns="0" tIns="0" rIns="0" bIns="0" rtlCol="0" anchor="t">
              <a:spAutoFit/>
            </a:bodyPr>
            <a:lstStyle/>
            <a:p>
              <a:pPr marL="0" lvl="0" indent="0" algn="l">
                <a:lnSpc>
                  <a:spcPts val="3640"/>
                </a:lnSpc>
              </a:pPr>
              <a:r>
                <a:rPr lang="en-US" sz="2600" b="1" dirty="0">
                  <a:solidFill>
                    <a:srgbClr val="6E91C4"/>
                  </a:solidFill>
                  <a:latin typeface="DM Sans Bold"/>
                  <a:ea typeface="DM Sans Bold"/>
                  <a:cs typeface="DM Sans Bold"/>
                  <a:sym typeface="DM Sans Bold"/>
                </a:rPr>
                <a:t>BUILT-IN TEXT INSIGHTS</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15821025" cy="2263778"/>
          </a:xfrm>
          <a:prstGeom prst="rect">
            <a:avLst/>
          </a:prstGeom>
        </p:spPr>
        <p:txBody>
          <a:bodyPr lIns="0" tIns="0" rIns="0" bIns="0" rtlCol="0" anchor="t">
            <a:spAutoFit/>
          </a:bodyPr>
          <a:lstStyle/>
          <a:p>
            <a:pPr marL="0" lvl="0" indent="0" algn="l">
              <a:lnSpc>
                <a:spcPts val="8800"/>
              </a:lnSpc>
              <a:spcBef>
                <a:spcPct val="0"/>
              </a:spcBef>
            </a:pPr>
            <a:r>
              <a:rPr lang="en-US" sz="8000">
                <a:solidFill>
                  <a:srgbClr val="3B4D6B"/>
                </a:solidFill>
                <a:latin typeface="Georgia Pro Light"/>
                <a:ea typeface="Georgia Pro Light"/>
                <a:cs typeface="Georgia Pro Light"/>
                <a:sym typeface="Georgia Pro Light"/>
              </a:rPr>
              <a:t>Results, Testing, and Limitations Overview</a:t>
            </a:r>
          </a:p>
        </p:txBody>
      </p:sp>
      <p:grpSp>
        <p:nvGrpSpPr>
          <p:cNvPr id="3" name="Group 3"/>
          <p:cNvGrpSpPr/>
          <p:nvPr/>
        </p:nvGrpSpPr>
        <p:grpSpPr>
          <a:xfrm>
            <a:off x="666750" y="3387929"/>
            <a:ext cx="8190824" cy="2241951"/>
            <a:chOff x="0" y="0"/>
            <a:chExt cx="10921099" cy="2989268"/>
          </a:xfrm>
        </p:grpSpPr>
        <p:sp>
          <p:nvSpPr>
            <p:cNvPr id="4" name="TextBox 4"/>
            <p:cNvSpPr txBox="1"/>
            <p:nvPr/>
          </p:nvSpPr>
          <p:spPr>
            <a:xfrm>
              <a:off x="0" y="584018"/>
              <a:ext cx="10300847" cy="2405250"/>
            </a:xfrm>
            <a:prstGeom prst="rect">
              <a:avLst/>
            </a:prstGeom>
          </p:spPr>
          <p:txBody>
            <a:bodyPr lIns="0" tIns="0" rIns="0" bIns="0" rtlCol="0" anchor="t">
              <a:spAutoFit/>
            </a:bodyPr>
            <a:lstStyle/>
            <a:p>
              <a:pPr marL="453390" lvl="1" indent="-226695" algn="l">
                <a:lnSpc>
                  <a:spcPts val="2939"/>
                </a:lnSpc>
                <a:buFont typeface="Arial"/>
                <a:buChar char="•"/>
              </a:pPr>
              <a:r>
                <a:rPr lang="en-US" sz="2099">
                  <a:solidFill>
                    <a:srgbClr val="3B4D6B"/>
                  </a:solidFill>
                  <a:latin typeface="DM Sans"/>
                  <a:ea typeface="DM Sans"/>
                  <a:cs typeface="DM Sans"/>
                  <a:sym typeface="DM Sans"/>
                </a:rPr>
                <a:t>Successfully extracts relevant keywords from long documents</a:t>
              </a:r>
            </a:p>
            <a:p>
              <a:pPr marL="453390" lvl="1" indent="-226695" algn="l">
                <a:lnSpc>
                  <a:spcPts val="2939"/>
                </a:lnSpc>
                <a:buFont typeface="Arial"/>
                <a:buChar char="•"/>
              </a:pPr>
              <a:r>
                <a:rPr lang="en-US" sz="2099">
                  <a:solidFill>
                    <a:srgbClr val="3B4D6B"/>
                  </a:solidFill>
                  <a:latin typeface="DM Sans"/>
                  <a:ea typeface="DM Sans"/>
                  <a:cs typeface="DM Sans"/>
                  <a:sym typeface="DM Sans"/>
                </a:rPr>
                <a:t>Captures meaningful single and double-word phrases</a:t>
              </a:r>
            </a:p>
            <a:p>
              <a:pPr marL="453390" lvl="1" indent="-226695" algn="l">
                <a:lnSpc>
                  <a:spcPts val="2939"/>
                </a:lnSpc>
                <a:buFont typeface="Arial"/>
                <a:buChar char="•"/>
              </a:pPr>
              <a:r>
                <a:rPr lang="en-US" sz="2099">
                  <a:solidFill>
                    <a:srgbClr val="3B4D6B"/>
                  </a:solidFill>
                  <a:latin typeface="DM Sans"/>
                  <a:ea typeface="DM Sans"/>
                  <a:cs typeface="DM Sans"/>
                  <a:sym typeface="DM Sans"/>
                </a:rPr>
                <a:t>Works well for articles, blogs, and project summaries</a:t>
              </a:r>
            </a:p>
            <a:p>
              <a:pPr marL="453390" lvl="1" indent="-226695" algn="l">
                <a:lnSpc>
                  <a:spcPts val="2939"/>
                </a:lnSpc>
                <a:buFont typeface="Arial"/>
                <a:buChar char="•"/>
              </a:pPr>
              <a:r>
                <a:rPr lang="en-US" sz="2099">
                  <a:solidFill>
                    <a:srgbClr val="3B4D6B"/>
                  </a:solidFill>
                  <a:latin typeface="DM Sans"/>
                  <a:ea typeface="DM Sans"/>
                  <a:cs typeface="DM Sans"/>
                  <a:sym typeface="DM Sans"/>
                </a:rPr>
                <a:t>Helps quickly identify main topics and concepts</a:t>
              </a:r>
            </a:p>
          </p:txBody>
        </p:sp>
        <p:sp>
          <p:nvSpPr>
            <p:cNvPr id="5" name="TextBox 5"/>
            <p:cNvSpPr txBox="1"/>
            <p:nvPr/>
          </p:nvSpPr>
          <p:spPr>
            <a:xfrm>
              <a:off x="0" y="-47625"/>
              <a:ext cx="10921099" cy="569145"/>
            </a:xfrm>
            <a:prstGeom prst="rect">
              <a:avLst/>
            </a:prstGeom>
          </p:spPr>
          <p:txBody>
            <a:bodyPr lIns="0" tIns="0" rIns="0" bIns="0" rtlCol="0" anchor="t">
              <a:spAutoFit/>
            </a:bodyPr>
            <a:lstStyle/>
            <a:p>
              <a:pPr marL="0" lvl="0" indent="0" algn="l">
                <a:lnSpc>
                  <a:spcPts val="3640"/>
                </a:lnSpc>
              </a:pPr>
              <a:r>
                <a:rPr lang="en-US" sz="2600" b="1" dirty="0">
                  <a:solidFill>
                    <a:srgbClr val="6E91C4"/>
                  </a:solidFill>
                  <a:latin typeface="DM Sans Bold"/>
                  <a:ea typeface="DM Sans Bold"/>
                  <a:cs typeface="DM Sans Bold"/>
                  <a:sym typeface="DM Sans Bold"/>
                </a:rPr>
                <a:t>RESULTS</a:t>
              </a:r>
            </a:p>
          </p:txBody>
        </p:sp>
      </p:grpSp>
      <p:grpSp>
        <p:nvGrpSpPr>
          <p:cNvPr id="6" name="Group 6"/>
          <p:cNvGrpSpPr/>
          <p:nvPr/>
        </p:nvGrpSpPr>
        <p:grpSpPr>
          <a:xfrm>
            <a:off x="666750" y="6249207"/>
            <a:ext cx="8190824" cy="2609395"/>
            <a:chOff x="0" y="0"/>
            <a:chExt cx="10921099" cy="3479194"/>
          </a:xfrm>
        </p:grpSpPr>
        <p:sp>
          <p:nvSpPr>
            <p:cNvPr id="7" name="TextBox 7"/>
            <p:cNvSpPr txBox="1"/>
            <p:nvPr/>
          </p:nvSpPr>
          <p:spPr>
            <a:xfrm>
              <a:off x="0" y="588195"/>
              <a:ext cx="10921099" cy="2890999"/>
            </a:xfrm>
            <a:prstGeom prst="rect">
              <a:avLst/>
            </a:prstGeom>
          </p:spPr>
          <p:txBody>
            <a:bodyPr lIns="0" tIns="0" rIns="0" bIns="0" rtlCol="0" anchor="t">
              <a:spAutoFit/>
            </a:bodyPr>
            <a:lstStyle/>
            <a:p>
              <a:pPr marL="453390" lvl="1" indent="-226695" algn="l">
                <a:lnSpc>
                  <a:spcPts val="2939"/>
                </a:lnSpc>
                <a:buFont typeface="Arial"/>
                <a:buChar char="•"/>
              </a:pPr>
              <a:r>
                <a:rPr lang="en-US" sz="2099" dirty="0" err="1">
                  <a:solidFill>
                    <a:srgbClr val="3B4D6B"/>
                  </a:solidFill>
                  <a:latin typeface="DM Sans"/>
                  <a:ea typeface="DM Sans"/>
                  <a:cs typeface="DM Sans"/>
                  <a:sym typeface="DM Sans"/>
                </a:rPr>
                <a:t>Pytest</a:t>
              </a:r>
              <a:r>
                <a:rPr lang="en-US" sz="2099" dirty="0">
                  <a:solidFill>
                    <a:srgbClr val="3B4D6B"/>
                  </a:solidFill>
                  <a:latin typeface="DM Sans"/>
                  <a:ea typeface="DM Sans"/>
                  <a:cs typeface="DM Sans"/>
                  <a:sym typeface="DM Sans"/>
                </a:rPr>
                <a:t> smoke tests verify keyword extraction logic</a:t>
              </a:r>
            </a:p>
            <a:p>
              <a:pPr marL="453390" lvl="1" indent="-226695" algn="l">
                <a:lnSpc>
                  <a:spcPts val="2939"/>
                </a:lnSpc>
                <a:buFont typeface="Arial"/>
                <a:buChar char="•"/>
              </a:pPr>
              <a:r>
                <a:rPr lang="en-US" sz="2099" dirty="0">
                  <a:solidFill>
                    <a:srgbClr val="3B4D6B"/>
                  </a:solidFill>
                  <a:latin typeface="DM Sans"/>
                  <a:ea typeface="DM Sans"/>
                  <a:cs typeface="DM Sans"/>
                  <a:sym typeface="DM Sans"/>
                </a:rPr>
                <a:t>Checked </a:t>
              </a:r>
              <a:r>
                <a:rPr lang="en-US" sz="2099" dirty="0" err="1">
                  <a:solidFill>
                    <a:srgbClr val="3B4D6B"/>
                  </a:solidFill>
                  <a:latin typeface="DM Sans"/>
                  <a:ea typeface="DM Sans"/>
                  <a:cs typeface="DM Sans"/>
                  <a:sym typeface="DM Sans"/>
                </a:rPr>
                <a:t>behaviour</a:t>
              </a:r>
              <a:r>
                <a:rPr lang="en-US" sz="2099" dirty="0">
                  <a:solidFill>
                    <a:srgbClr val="3B4D6B"/>
                  </a:solidFill>
                  <a:latin typeface="DM Sans"/>
                  <a:ea typeface="DM Sans"/>
                  <a:cs typeface="DM Sans"/>
                  <a:sym typeface="DM Sans"/>
                </a:rPr>
                <a:t> for:</a:t>
              </a:r>
            </a:p>
            <a:p>
              <a:pPr marL="906779" lvl="2" indent="-302260" algn="l">
                <a:lnSpc>
                  <a:spcPts val="2939"/>
                </a:lnSpc>
                <a:buFont typeface="Arial"/>
                <a:buChar char="⚬"/>
              </a:pPr>
              <a:r>
                <a:rPr lang="en-US" sz="2099" dirty="0">
                  <a:solidFill>
                    <a:srgbClr val="3B4D6B"/>
                  </a:solidFill>
                  <a:latin typeface="DM Sans"/>
                  <a:ea typeface="DM Sans"/>
                  <a:cs typeface="DM Sans"/>
                  <a:sym typeface="DM Sans"/>
                </a:rPr>
                <a:t>Blank text handling</a:t>
              </a:r>
            </a:p>
            <a:p>
              <a:pPr marL="906779" lvl="2" indent="-302260" algn="l">
                <a:lnSpc>
                  <a:spcPts val="2939"/>
                </a:lnSpc>
                <a:buFont typeface="Arial"/>
                <a:buChar char="⚬"/>
              </a:pPr>
              <a:r>
                <a:rPr lang="en-US" sz="2099" dirty="0">
                  <a:solidFill>
                    <a:srgbClr val="3B4D6B"/>
                  </a:solidFill>
                  <a:latin typeface="DM Sans"/>
                  <a:ea typeface="DM Sans"/>
                  <a:cs typeface="DM Sans"/>
                  <a:sym typeface="DM Sans"/>
                </a:rPr>
                <a:t>Output type and length correctness</a:t>
              </a:r>
            </a:p>
            <a:p>
              <a:pPr marL="906779" lvl="2" indent="-302260" algn="l">
                <a:lnSpc>
                  <a:spcPts val="2939"/>
                </a:lnSpc>
                <a:buFont typeface="Arial"/>
                <a:buChar char="⚬"/>
              </a:pPr>
              <a:r>
                <a:rPr lang="en-US" sz="2099" dirty="0">
                  <a:solidFill>
                    <a:srgbClr val="3B4D6B"/>
                  </a:solidFill>
                  <a:latin typeface="DM Sans"/>
                  <a:ea typeface="DM Sans"/>
                  <a:cs typeface="DM Sans"/>
                  <a:sym typeface="DM Sans"/>
                </a:rPr>
                <a:t>Limits on keyword count and ratio</a:t>
              </a:r>
            </a:p>
            <a:p>
              <a:pPr marL="906779" lvl="2" indent="-302260" algn="l">
                <a:lnSpc>
                  <a:spcPts val="2939"/>
                </a:lnSpc>
                <a:buFont typeface="Arial"/>
                <a:buChar char="⚬"/>
              </a:pPr>
              <a:r>
                <a:rPr lang="en-US" sz="2099" dirty="0">
                  <a:solidFill>
                    <a:srgbClr val="3B4D6B"/>
                  </a:solidFill>
                  <a:latin typeface="DM Sans"/>
                  <a:ea typeface="DM Sans"/>
                  <a:cs typeface="DM Sans"/>
                  <a:sym typeface="DM Sans"/>
                </a:rPr>
                <a:t>Validates overall reliability of the feature</a:t>
              </a:r>
            </a:p>
          </p:txBody>
        </p:sp>
        <p:sp>
          <p:nvSpPr>
            <p:cNvPr id="8" name="TextBox 8"/>
            <p:cNvSpPr txBox="1"/>
            <p:nvPr/>
          </p:nvSpPr>
          <p:spPr>
            <a:xfrm>
              <a:off x="0" y="-47625"/>
              <a:ext cx="10921099" cy="569145"/>
            </a:xfrm>
            <a:prstGeom prst="rect">
              <a:avLst/>
            </a:prstGeom>
          </p:spPr>
          <p:txBody>
            <a:bodyPr lIns="0" tIns="0" rIns="0" bIns="0" rtlCol="0" anchor="t">
              <a:spAutoFit/>
            </a:bodyPr>
            <a:lstStyle/>
            <a:p>
              <a:pPr marL="0" lvl="0" indent="0" algn="l">
                <a:lnSpc>
                  <a:spcPts val="3640"/>
                </a:lnSpc>
              </a:pPr>
              <a:r>
                <a:rPr lang="en-US" sz="2600" b="1">
                  <a:solidFill>
                    <a:srgbClr val="6E91C4"/>
                  </a:solidFill>
                  <a:latin typeface="DM Sans Bold"/>
                  <a:ea typeface="DM Sans Bold"/>
                  <a:cs typeface="DM Sans Bold"/>
                  <a:sym typeface="DM Sans Bold"/>
                </a:rPr>
                <a:t>TESTING</a:t>
              </a:r>
            </a:p>
          </p:txBody>
        </p:sp>
      </p:grpSp>
      <p:grpSp>
        <p:nvGrpSpPr>
          <p:cNvPr id="9" name="Group 9"/>
          <p:cNvGrpSpPr/>
          <p:nvPr/>
        </p:nvGrpSpPr>
        <p:grpSpPr>
          <a:xfrm>
            <a:off x="9358507" y="3387929"/>
            <a:ext cx="8195669" cy="2241951"/>
            <a:chOff x="0" y="0"/>
            <a:chExt cx="10927559" cy="2989268"/>
          </a:xfrm>
        </p:grpSpPr>
        <p:sp>
          <p:nvSpPr>
            <p:cNvPr id="10" name="TextBox 10"/>
            <p:cNvSpPr txBox="1"/>
            <p:nvPr/>
          </p:nvSpPr>
          <p:spPr>
            <a:xfrm>
              <a:off x="0" y="584018"/>
              <a:ext cx="10306940" cy="2405250"/>
            </a:xfrm>
            <a:prstGeom prst="rect">
              <a:avLst/>
            </a:prstGeom>
          </p:spPr>
          <p:txBody>
            <a:bodyPr lIns="0" tIns="0" rIns="0" bIns="0" rtlCol="0" anchor="t">
              <a:spAutoFit/>
            </a:bodyPr>
            <a:lstStyle/>
            <a:p>
              <a:pPr marL="453390" lvl="1" indent="-226695" algn="l">
                <a:lnSpc>
                  <a:spcPts val="2939"/>
                </a:lnSpc>
                <a:buFont typeface="Arial"/>
                <a:buChar char="•"/>
              </a:pPr>
              <a:r>
                <a:rPr lang="en-US" sz="2099">
                  <a:solidFill>
                    <a:srgbClr val="3B4D6B"/>
                  </a:solidFill>
                  <a:latin typeface="DM Sans"/>
                  <a:ea typeface="DM Sans"/>
                  <a:cs typeface="DM Sans"/>
                  <a:sym typeface="DM Sans"/>
                </a:rPr>
                <a:t>TF-IDF is lexical — does not fully understand meaning</a:t>
              </a:r>
            </a:p>
            <a:p>
              <a:pPr marL="453390" lvl="1" indent="-226695" algn="l">
                <a:lnSpc>
                  <a:spcPts val="2939"/>
                </a:lnSpc>
                <a:buFont typeface="Arial"/>
                <a:buChar char="•"/>
              </a:pPr>
              <a:r>
                <a:rPr lang="en-US" sz="2099">
                  <a:solidFill>
                    <a:srgbClr val="3B4D6B"/>
                  </a:solidFill>
                  <a:latin typeface="DM Sans"/>
                  <a:ea typeface="DM Sans"/>
                  <a:cs typeface="DM Sans"/>
                  <a:sym typeface="DM Sans"/>
                </a:rPr>
                <a:t>Works on one document at a time, no multi-file context</a:t>
              </a:r>
            </a:p>
            <a:p>
              <a:pPr marL="453390" lvl="1" indent="-226695" algn="l">
                <a:lnSpc>
                  <a:spcPts val="2939"/>
                </a:lnSpc>
                <a:buFont typeface="Arial"/>
                <a:buChar char="•"/>
              </a:pPr>
              <a:r>
                <a:rPr lang="en-US" sz="2099">
                  <a:solidFill>
                    <a:srgbClr val="3B4D6B"/>
                  </a:solidFill>
                  <a:latin typeface="DM Sans"/>
                  <a:ea typeface="DM Sans"/>
                  <a:cs typeface="DM Sans"/>
                  <a:sym typeface="DM Sans"/>
                </a:rPr>
                <a:t>Basic normalization — not as strong as lemmatization</a:t>
              </a:r>
            </a:p>
            <a:p>
              <a:pPr marL="453390" lvl="1" indent="-226695" algn="l">
                <a:lnSpc>
                  <a:spcPts val="2939"/>
                </a:lnSpc>
                <a:buFont typeface="Arial"/>
                <a:buChar char="•"/>
              </a:pPr>
              <a:r>
                <a:rPr lang="en-US" sz="2099">
                  <a:solidFill>
                    <a:srgbClr val="3B4D6B"/>
                  </a:solidFill>
                  <a:latin typeface="DM Sans"/>
                  <a:ea typeface="DM Sans"/>
                  <a:cs typeface="DM Sans"/>
                  <a:sym typeface="DM Sans"/>
                </a:rPr>
                <a:t>Currently supports only .txt and .md files</a:t>
              </a:r>
            </a:p>
            <a:p>
              <a:pPr marL="453390" lvl="1" indent="-226695" algn="l">
                <a:lnSpc>
                  <a:spcPts val="2939"/>
                </a:lnSpc>
                <a:buFont typeface="Arial"/>
                <a:buChar char="•"/>
              </a:pPr>
              <a:r>
                <a:rPr lang="en-US" sz="2099">
                  <a:solidFill>
                    <a:srgbClr val="3B4D6B"/>
                  </a:solidFill>
                  <a:latin typeface="DM Sans"/>
                  <a:ea typeface="DM Sans"/>
                  <a:cs typeface="DM Sans"/>
                  <a:sym typeface="DM Sans"/>
                </a:rPr>
                <a:t>Does not detect synonyms or relations between keywords</a:t>
              </a:r>
            </a:p>
          </p:txBody>
        </p:sp>
        <p:sp>
          <p:nvSpPr>
            <p:cNvPr id="11" name="TextBox 11"/>
            <p:cNvSpPr txBox="1"/>
            <p:nvPr/>
          </p:nvSpPr>
          <p:spPr>
            <a:xfrm>
              <a:off x="0" y="-47625"/>
              <a:ext cx="10927559" cy="569145"/>
            </a:xfrm>
            <a:prstGeom prst="rect">
              <a:avLst/>
            </a:prstGeom>
          </p:spPr>
          <p:txBody>
            <a:bodyPr lIns="0" tIns="0" rIns="0" bIns="0" rtlCol="0" anchor="t">
              <a:spAutoFit/>
            </a:bodyPr>
            <a:lstStyle/>
            <a:p>
              <a:pPr marL="0" lvl="0" indent="0" algn="l">
                <a:lnSpc>
                  <a:spcPts val="3640"/>
                </a:lnSpc>
              </a:pPr>
              <a:r>
                <a:rPr lang="en-US" sz="2600" b="1" dirty="0">
                  <a:solidFill>
                    <a:srgbClr val="6E91C4"/>
                  </a:solidFill>
                  <a:latin typeface="DM Sans Bold"/>
                  <a:ea typeface="DM Sans Bold"/>
                  <a:cs typeface="DM Sans Bold"/>
                  <a:sym typeface="DM Sans Bold"/>
                </a:rPr>
                <a:t>LIMITATIONS</a:t>
              </a:r>
            </a:p>
          </p:txBody>
        </p:sp>
      </p:grpSp>
      <p:grpSp>
        <p:nvGrpSpPr>
          <p:cNvPr id="12" name="Group 12"/>
          <p:cNvGrpSpPr/>
          <p:nvPr/>
        </p:nvGrpSpPr>
        <p:grpSpPr>
          <a:xfrm>
            <a:off x="9358507" y="6249207"/>
            <a:ext cx="7957933" cy="2241951"/>
            <a:chOff x="0" y="0"/>
            <a:chExt cx="10610578" cy="2989268"/>
          </a:xfrm>
        </p:grpSpPr>
        <p:sp>
          <p:nvSpPr>
            <p:cNvPr id="13" name="TextBox 13"/>
            <p:cNvSpPr txBox="1"/>
            <p:nvPr/>
          </p:nvSpPr>
          <p:spPr>
            <a:xfrm>
              <a:off x="0" y="584018"/>
              <a:ext cx="10007962" cy="2405250"/>
            </a:xfrm>
            <a:prstGeom prst="rect">
              <a:avLst/>
            </a:prstGeom>
          </p:spPr>
          <p:txBody>
            <a:bodyPr lIns="0" tIns="0" rIns="0" bIns="0" rtlCol="0" anchor="t">
              <a:spAutoFit/>
            </a:bodyPr>
            <a:lstStyle/>
            <a:p>
              <a:pPr marL="453390" lvl="1" indent="-226695" algn="l">
                <a:lnSpc>
                  <a:spcPts val="2939"/>
                </a:lnSpc>
                <a:buFont typeface="Arial"/>
                <a:buChar char="•"/>
              </a:pPr>
              <a:r>
                <a:rPr lang="en-US" sz="2099">
                  <a:solidFill>
                    <a:srgbClr val="3B4D6B"/>
                  </a:solidFill>
                  <a:latin typeface="DM Sans"/>
                  <a:ea typeface="DM Sans"/>
                  <a:cs typeface="DM Sans"/>
                  <a:sym typeface="DM Sans"/>
                </a:rPr>
                <a:t>Add spaCy-based lemmatization for better linguistic accuracy</a:t>
              </a:r>
            </a:p>
            <a:p>
              <a:pPr marL="453390" lvl="1" indent="-226695" algn="l">
                <a:lnSpc>
                  <a:spcPts val="2939"/>
                </a:lnSpc>
                <a:buFont typeface="Arial"/>
                <a:buChar char="•"/>
              </a:pPr>
              <a:r>
                <a:rPr lang="en-US" sz="2099">
                  <a:solidFill>
                    <a:srgbClr val="3B4D6B"/>
                  </a:solidFill>
                  <a:latin typeface="DM Sans"/>
                  <a:ea typeface="DM Sans"/>
                  <a:cs typeface="DM Sans"/>
                  <a:sym typeface="DM Sans"/>
                </a:rPr>
                <a:t>Support multi-document corpus keyword extraction</a:t>
              </a:r>
            </a:p>
            <a:p>
              <a:pPr marL="453390" lvl="1" indent="-226695" algn="l">
                <a:lnSpc>
                  <a:spcPts val="2939"/>
                </a:lnSpc>
                <a:buFont typeface="Arial"/>
                <a:buChar char="•"/>
              </a:pPr>
              <a:r>
                <a:rPr lang="en-US" sz="2099">
                  <a:solidFill>
                    <a:srgbClr val="3B4D6B"/>
                  </a:solidFill>
                  <a:latin typeface="DM Sans"/>
                  <a:ea typeface="DM Sans"/>
                  <a:cs typeface="DM Sans"/>
                  <a:sym typeface="DM Sans"/>
                </a:rPr>
                <a:t>Allow export formats like CSV/JSON</a:t>
              </a:r>
            </a:p>
            <a:p>
              <a:pPr marL="453390" lvl="1" indent="-226695" algn="l">
                <a:lnSpc>
                  <a:spcPts val="2939"/>
                </a:lnSpc>
                <a:buFont typeface="Arial"/>
                <a:buChar char="•"/>
              </a:pPr>
              <a:r>
                <a:rPr lang="en-US" sz="2099">
                  <a:solidFill>
                    <a:srgbClr val="3B4D6B"/>
                  </a:solidFill>
                  <a:latin typeface="DM Sans"/>
                  <a:ea typeface="DM Sans"/>
                  <a:cs typeface="DM Sans"/>
                  <a:sym typeface="DM Sans"/>
                </a:rPr>
                <a:t>Add custom stopword list and UI theme enhancements</a:t>
              </a:r>
            </a:p>
          </p:txBody>
        </p:sp>
        <p:sp>
          <p:nvSpPr>
            <p:cNvPr id="14" name="TextBox 14"/>
            <p:cNvSpPr txBox="1"/>
            <p:nvPr/>
          </p:nvSpPr>
          <p:spPr>
            <a:xfrm>
              <a:off x="0" y="-47625"/>
              <a:ext cx="10610578" cy="569145"/>
            </a:xfrm>
            <a:prstGeom prst="rect">
              <a:avLst/>
            </a:prstGeom>
          </p:spPr>
          <p:txBody>
            <a:bodyPr lIns="0" tIns="0" rIns="0" bIns="0" rtlCol="0" anchor="t">
              <a:spAutoFit/>
            </a:bodyPr>
            <a:lstStyle/>
            <a:p>
              <a:pPr marL="0" lvl="0" indent="0" algn="l">
                <a:lnSpc>
                  <a:spcPts val="3640"/>
                </a:lnSpc>
              </a:pPr>
              <a:r>
                <a:rPr lang="en-US" sz="2600" b="1" dirty="0">
                  <a:solidFill>
                    <a:srgbClr val="6E91C4"/>
                  </a:solidFill>
                  <a:latin typeface="DM Sans Bold"/>
                  <a:ea typeface="DM Sans Bold"/>
                  <a:cs typeface="DM Sans Bold"/>
                  <a:sym typeface="DM Sans Bold"/>
                </a:rPr>
                <a:t>FUTURE IMPROVEMENTS</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5562600" y="3848101"/>
            <a:ext cx="7162800" cy="1692772"/>
          </a:xfrm>
          <a:prstGeom prst="rect">
            <a:avLst/>
          </a:prstGeom>
        </p:spPr>
        <p:txBody>
          <a:bodyPr wrap="square" lIns="0" tIns="0" rIns="0" bIns="0" rtlCol="0" anchor="t">
            <a:spAutoFit/>
          </a:bodyPr>
          <a:lstStyle/>
          <a:p>
            <a:pPr marL="0" lvl="0" indent="0" algn="l">
              <a:lnSpc>
                <a:spcPts val="13190"/>
              </a:lnSpc>
              <a:spcBef>
                <a:spcPct val="0"/>
              </a:spcBef>
            </a:pPr>
            <a:r>
              <a:rPr lang="en-US" sz="11991" dirty="0">
                <a:solidFill>
                  <a:srgbClr val="3B4D6B"/>
                </a:solidFill>
                <a:latin typeface="Georgia Pro Light"/>
                <a:ea typeface="Georgia Pro Light"/>
                <a:cs typeface="Georgia Pro Light"/>
                <a:sym typeface="Georgia Pro Light"/>
              </a:rPr>
              <a:t>Thank You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639</Words>
  <Application>Microsoft Office PowerPoint</Application>
  <PresentationFormat>Custom</PresentationFormat>
  <Paragraphs>85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Genai_presentation</dc:title>
  <dc:creator>christina evangelin</dc:creator>
  <dc:description>Presentation - TF-IDF Web App</dc:description>
  <cp:lastModifiedBy>Jaqueen Agneshia Christy Paladugu</cp:lastModifiedBy>
  <cp:revision>4</cp:revision>
  <dcterms:created xsi:type="dcterms:W3CDTF">2006-08-16T00:00:00Z</dcterms:created>
  <dcterms:modified xsi:type="dcterms:W3CDTF">2025-11-29T11:00:58Z</dcterms:modified>
  <dc:identifier>DAG6Ariy0cI</dc:identifier>
</cp:coreProperties>
</file>